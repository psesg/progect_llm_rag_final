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9" r:id="rId1"/>
  </p:sldMasterIdLst>
  <p:notesMasterIdLst>
    <p:notesMasterId r:id="rId17"/>
  </p:notesMasterIdLst>
  <p:sldIdLst>
    <p:sldId id="266" r:id="rId2"/>
    <p:sldId id="267" r:id="rId3"/>
    <p:sldId id="268" r:id="rId4"/>
    <p:sldId id="273" r:id="rId5"/>
    <p:sldId id="289" r:id="rId6"/>
    <p:sldId id="274" r:id="rId7"/>
    <p:sldId id="279" r:id="rId8"/>
    <p:sldId id="287" r:id="rId9"/>
    <p:sldId id="280" r:id="rId10"/>
    <p:sldId id="281" r:id="rId11"/>
    <p:sldId id="288" r:id="rId12"/>
    <p:sldId id="283" r:id="rId13"/>
    <p:sldId id="284" r:id="rId14"/>
    <p:sldId id="286" r:id="rId15"/>
    <p:sldId id="270" r:id="rId16"/>
  </p:sldIdLst>
  <p:sldSz cx="12192000" cy="6858000"/>
  <p:notesSz cx="6858000" cy="12192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46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1048729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B08F6-A763-4ECC-B1F1-39E9678FD059}" type="datetimeFigureOut">
              <a:rPr lang="ru-RU" smtClean="0"/>
              <a:t>19.09.2025</a:t>
            </a:fld>
            <a:endParaRPr lang="ru-RU"/>
          </a:p>
        </p:txBody>
      </p:sp>
      <p:sp>
        <p:nvSpPr>
          <p:cNvPr id="1048730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1048731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732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1048733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35945-36D0-4FB2-87A3-DB123570D9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2970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f7fd1cc82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Заголовок — шрифт Montserrat Exrtra Bold, 36. Выравнивание по левому краю.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Выравнивание значков списка по заголовку. Пункты списка короткие, с большой буквой, без знака в конце. Последний пункт с точкой.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highlight>
                  <a:srgbClr val="FFFFFF"/>
                </a:highlight>
              </a:rPr>
              <a:t>Список. Указываем 4-7 пунктов. Начинаем пункты с большой буквы, без знаков препинания в конце.</a:t>
            </a:r>
            <a:endParaRPr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>
                <a:highlight>
                  <a:srgbClr val="FFFFFF"/>
                </a:highlight>
              </a:rPr>
              <a:t>Шрифт как текст - размер 24, Roboto средний. Интервал разреженный, 1,5. Выравнивание по левому краю</a:t>
            </a:r>
            <a:endParaRPr/>
          </a:p>
        </p:txBody>
      </p:sp>
      <p:sp>
        <p:nvSpPr>
          <p:cNvPr id="101" name="Google Shape;101;g1f7fd1cc82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98987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f7fd1cc82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Заголовок — шрифт Montserrat Exrtra Bold, 36. Выравнивание по левому краю.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Выравнивание значков списка по заголовку. Пункты списка короткие, с большой буквой, без знака в конце. Последний пункт с точкой.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highlight>
                  <a:srgbClr val="FFFFFF"/>
                </a:highlight>
              </a:rPr>
              <a:t>Список. Указываем 4-7 пунктов. Начинаем пункты с большой буквы, без знаков препинания в конце.</a:t>
            </a:r>
            <a:endParaRPr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>
                <a:highlight>
                  <a:srgbClr val="FFFFFF"/>
                </a:highlight>
              </a:rPr>
              <a:t>Шрифт как текст - размер 24, Roboto средний. Интервал разреженный, 1,5. Выравнивание по левому краю</a:t>
            </a:r>
            <a:endParaRPr/>
          </a:p>
        </p:txBody>
      </p:sp>
      <p:sp>
        <p:nvSpPr>
          <p:cNvPr id="101" name="Google Shape;101;g1f7fd1cc82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55542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623" name="bg object 16"/>
          <p:cNvSpPr/>
          <p:nvPr/>
        </p:nvSpPr>
        <p:spPr bwMode="auto">
          <a:xfrm>
            <a:off x="1560575" y="0"/>
            <a:ext cx="10628376" cy="1691639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24" name="Holder 2"/>
          <p:cNvSpPr>
            <a:spLocks noGrp="1"/>
          </p:cNvSpPr>
          <p:nvPr>
            <p:ph type="ctrTitle"/>
          </p:nvPr>
        </p:nvSpPr>
        <p:spPr bwMode="auto">
          <a:xfrm>
            <a:off x="704443" y="257555"/>
            <a:ext cx="10783112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048625" name="Holder 3"/>
          <p:cNvSpPr>
            <a:spLocks noGrp="1"/>
          </p:cNvSpPr>
          <p:nvPr>
            <p:ph type="subTitle" idx="4"/>
          </p:nvPr>
        </p:nvSpPr>
        <p:spPr bwMode="auto"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62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2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E484D-3412-4862-8607-E8FD945395EE}" type="datetime1">
              <a:rPr lang="en-US" smtClean="0"/>
              <a:t>9/19/2025</a:t>
            </a:fld>
            <a:endParaRPr lang="en-US"/>
          </a:p>
        </p:txBody>
      </p:sp>
      <p:sp>
        <p:nvSpPr>
          <p:cNvPr id="104862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663" name="Holder 2"/>
          <p:cNvSpPr>
            <a:spLocks noGrp="1"/>
          </p:cNvSpPr>
          <p:nvPr>
            <p:ph type="title"/>
          </p:nvPr>
        </p:nvSpPr>
        <p:spPr bwMode="auto">
          <a:xfrm>
            <a:off x="685800" y="2667000"/>
            <a:ext cx="7493328" cy="1933575"/>
          </a:xfrm>
          <a:prstGeom prst="rect">
            <a:avLst/>
          </a:prstGeom>
        </p:spPr>
        <p:txBody>
          <a:bodyPr lIns="0" tIns="0" rIns="0" bIns="0"/>
          <a:lstStyle>
            <a:lvl1pPr>
              <a:defRPr sz="6600" b="0" i="0">
                <a:solidFill>
                  <a:schemeClr val="tx1"/>
                </a:solidFill>
                <a:latin typeface="SBSansDisplay-Light"/>
                <a:cs typeface="SBSansDisplay-Light"/>
              </a:defRPr>
            </a:lvl1pPr>
          </a:lstStyle>
          <a:p>
            <a:endParaRPr/>
          </a:p>
        </p:txBody>
      </p:sp>
      <p:sp>
        <p:nvSpPr>
          <p:cNvPr id="1048664" name="Holder 3"/>
          <p:cNvSpPr>
            <a:spLocks noGrp="1"/>
          </p:cNvSpPr>
          <p:nvPr>
            <p:ph type="body" idx="1"/>
          </p:nvPr>
        </p:nvSpPr>
        <p:spPr bwMode="auto">
          <a:xfrm>
            <a:off x="609600" y="1577340"/>
            <a:ext cx="10972800" cy="452628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04866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6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6E240-CE2A-4026-8AAB-7B938B2B85A6}" type="datetime1">
              <a:rPr lang="en-US" smtClean="0"/>
              <a:t>9/19/2025</a:t>
            </a:fld>
            <a:endParaRPr lang="en-US"/>
          </a:p>
        </p:txBody>
      </p:sp>
      <p:sp>
        <p:nvSpPr>
          <p:cNvPr id="104866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7157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 rot="16199999">
            <a:off x="-310445" y="310446"/>
            <a:ext cx="6858001" cy="6237110"/>
          </a:xfrm>
          <a:prstGeom prst="rect">
            <a:avLst/>
          </a:prstGeom>
        </p:spPr>
      </p:pic>
      <p:sp>
        <p:nvSpPr>
          <p:cNvPr id="1048639" name="Title 1"/>
          <p:cNvSpPr>
            <a:spLocks noGrp="1"/>
          </p:cNvSpPr>
          <p:nvPr>
            <p:ph type="title"/>
          </p:nvPr>
        </p:nvSpPr>
        <p:spPr bwMode="auto">
          <a:xfrm>
            <a:off x="625703" y="365291"/>
            <a:ext cx="10728324" cy="1325563"/>
          </a:xfrm>
          <a:prstGeom prst="rect">
            <a:avLst/>
          </a:prstGeom>
        </p:spPr>
        <p:txBody>
          <a:bodyPr/>
          <a:lstStyle>
            <a:lvl1pPr algn="l">
              <a:defRPr sz="4400" b="0" i="0">
                <a:solidFill>
                  <a:schemeClr val="tx1"/>
                </a:solidFill>
                <a:latin typeface="SB Sans Display Light"/>
                <a:cs typeface="SB Sans Display Light"/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1048640" name="Скругленный прямоугольник 8"/>
          <p:cNvSpPr/>
          <p:nvPr userDrawn="1"/>
        </p:nvSpPr>
        <p:spPr bwMode="auto">
          <a:xfrm>
            <a:off x="5618214" y="1143000"/>
            <a:ext cx="2489200" cy="5334000"/>
          </a:xfrm>
          <a:prstGeom prst="roundRect">
            <a:avLst>
              <a:gd name="adj" fmla="val 103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97158" name="Рисунок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5390558" y="911677"/>
            <a:ext cx="2991442" cy="57966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668" name="object 2"/>
          <p:cNvSpPr/>
          <p:nvPr userDrawn="1"/>
        </p:nvSpPr>
        <p:spPr bwMode="auto">
          <a:xfrm>
            <a:off x="0" y="0"/>
            <a:ext cx="6096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69" name="Скругленный прямоугольник 7"/>
          <p:cNvSpPr/>
          <p:nvPr userDrawn="1"/>
        </p:nvSpPr>
        <p:spPr bwMode="auto">
          <a:xfrm>
            <a:off x="1930400" y="812618"/>
            <a:ext cx="2489200" cy="5334000"/>
          </a:xfrm>
          <a:prstGeom prst="roundRect">
            <a:avLst>
              <a:gd name="adj" fmla="val 103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97162" name="Рисунок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656758" y="530677"/>
            <a:ext cx="2991442" cy="57966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7159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 rot="5400000">
            <a:off x="5644443" y="310447"/>
            <a:ext cx="6858001" cy="6237110"/>
          </a:xfrm>
          <a:prstGeom prst="rect">
            <a:avLst/>
          </a:prstGeom>
        </p:spPr>
      </p:pic>
      <p:sp>
        <p:nvSpPr>
          <p:cNvPr id="1048648" name="Нижний колонтитул 2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endParaRPr lang="ru-RU"/>
          </a:p>
        </p:txBody>
      </p:sp>
      <p:sp>
        <p:nvSpPr>
          <p:cNvPr id="1048649" name="Дата 3"/>
          <p:cNvSpPr>
            <a:spLocks noGrp="1"/>
          </p:cNvSpPr>
          <p:nvPr>
            <p:ph type="dt" sz="half" idx="11"/>
          </p:nvPr>
        </p:nvSpPr>
        <p:spPr bwMode="auto"/>
        <p:txBody>
          <a:bodyPr/>
          <a:lstStyle/>
          <a:p>
            <a:fld id="{97858DEA-CE95-4D32-BE2F-81451255DB1C}" type="datetime1">
              <a:rPr lang="en-US" smtClean="0"/>
              <a:t>9/19/2025</a:t>
            </a:fld>
            <a:endParaRPr lang="en-US"/>
          </a:p>
        </p:txBody>
      </p:sp>
      <p:sp>
        <p:nvSpPr>
          <p:cNvPr id="1048650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fld id="{B6F15528-21DE-4FAA-801E-634DDDAF4B2B}" type="slidenum">
              <a:rPr lang="ru-RU"/>
              <a:t>‹#›</a:t>
            </a:fld>
            <a:endParaRPr lang="ru-RU"/>
          </a:p>
        </p:txBody>
      </p:sp>
      <p:pic>
        <p:nvPicPr>
          <p:cNvPr id="2097160" name="Рисунок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5303912" y="711770"/>
            <a:ext cx="4135483" cy="56445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5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7154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 rot="5400000">
            <a:off x="5644443" y="310447"/>
            <a:ext cx="6858001" cy="6237110"/>
          </a:xfrm>
          <a:prstGeom prst="rect">
            <a:avLst/>
          </a:prstGeom>
        </p:spPr>
      </p:pic>
      <p:sp>
        <p:nvSpPr>
          <p:cNvPr id="1048616" name="Нижний колонтитул 2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endParaRPr lang="ru-RU"/>
          </a:p>
        </p:txBody>
      </p:sp>
      <p:sp>
        <p:nvSpPr>
          <p:cNvPr id="1048617" name="Дата 3"/>
          <p:cNvSpPr>
            <a:spLocks noGrp="1"/>
          </p:cNvSpPr>
          <p:nvPr>
            <p:ph type="dt" sz="half" idx="11"/>
          </p:nvPr>
        </p:nvSpPr>
        <p:spPr bwMode="auto"/>
        <p:txBody>
          <a:bodyPr/>
          <a:lstStyle/>
          <a:p>
            <a:fld id="{83FC89E4-AF39-4EA3-A0B4-3BE24CA29A6D}" type="datetime1">
              <a:rPr lang="en-US" smtClean="0"/>
              <a:t>9/19/2025</a:t>
            </a:fld>
            <a:endParaRPr lang="en-US"/>
          </a:p>
        </p:txBody>
      </p:sp>
      <p:sp>
        <p:nvSpPr>
          <p:cNvPr id="1048618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fld id="{B6F15528-21DE-4FAA-801E-634DDDAF4B2B}" type="slidenum">
              <a:rPr lang="ru-RU"/>
              <a:t>‹#›</a:t>
            </a:fld>
            <a:endParaRPr lang="ru-RU"/>
          </a:p>
        </p:txBody>
      </p:sp>
      <p:pic>
        <p:nvPicPr>
          <p:cNvPr id="2097155" name="Рисунок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4954282" y="1226799"/>
            <a:ext cx="8126494" cy="46285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644" name="bg object 16"/>
          <p:cNvSpPr/>
          <p:nvPr/>
        </p:nvSpPr>
        <p:spPr bwMode="auto">
          <a:xfrm>
            <a:off x="0" y="0"/>
            <a:ext cx="12188952" cy="16550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4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4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5102B1-C94D-4B28-A7A2-1FF5B05AB096}" type="datetime1">
              <a:rPr lang="en-US" smtClean="0"/>
              <a:t>9/19/2025</a:t>
            </a:fld>
            <a:endParaRPr lang="en-US"/>
          </a:p>
        </p:txBody>
      </p:sp>
      <p:sp>
        <p:nvSpPr>
          <p:cNvPr id="104864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659" name="bg object 16"/>
          <p:cNvSpPr/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blipFill>
            <a:blip r:embed="rId2"/>
            <a:srcRect b="2173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60" name="Holder 2"/>
          <p:cNvSpPr>
            <a:spLocks noGrp="1"/>
          </p:cNvSpPr>
          <p:nvPr>
            <p:ph type="title"/>
          </p:nvPr>
        </p:nvSpPr>
        <p:spPr bwMode="auto">
          <a:xfrm>
            <a:off x="685800" y="2667000"/>
            <a:ext cx="7493328" cy="1933575"/>
          </a:xfrm>
          <a:prstGeom prst="rect">
            <a:avLst/>
          </a:prstGeom>
        </p:spPr>
        <p:txBody>
          <a:bodyPr lIns="0" tIns="0" rIns="0" bIns="0"/>
          <a:lstStyle>
            <a:lvl1pPr>
              <a:defRPr sz="6600" b="0" i="0">
                <a:solidFill>
                  <a:schemeClr val="tx1"/>
                </a:solidFill>
                <a:latin typeface="SBSansDisplay-Light"/>
                <a:cs typeface="SBSansDisplay-Light"/>
              </a:defRPr>
            </a:lvl1pPr>
          </a:lstStyle>
          <a:p>
            <a:endParaRPr/>
          </a:p>
        </p:txBody>
      </p:sp>
      <p:sp>
        <p:nvSpPr>
          <p:cNvPr id="104866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6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3A51E-CA75-4C37-A545-C529FC56CB5D}" type="datetime1">
              <a:rPr lang="en-US" smtClean="0"/>
              <a:t>9/19/2025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629" name="bg object 16"/>
          <p:cNvSpPr/>
          <p:nvPr/>
        </p:nvSpPr>
        <p:spPr bwMode="auto">
          <a:xfrm rot="10800000">
            <a:off x="0" y="0"/>
            <a:ext cx="12188952" cy="2667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30" name="Holder 2"/>
          <p:cNvSpPr>
            <a:spLocks noGrp="1"/>
          </p:cNvSpPr>
          <p:nvPr>
            <p:ph type="title"/>
          </p:nvPr>
        </p:nvSpPr>
        <p:spPr bwMode="auto">
          <a:xfrm>
            <a:off x="685800" y="2667000"/>
            <a:ext cx="7493328" cy="1933575"/>
          </a:xfrm>
          <a:prstGeom prst="rect">
            <a:avLst/>
          </a:prstGeom>
        </p:spPr>
        <p:txBody>
          <a:bodyPr lIns="0" tIns="0" rIns="0" bIns="0"/>
          <a:lstStyle>
            <a:lvl1pPr>
              <a:defRPr sz="6600" b="0" i="0">
                <a:solidFill>
                  <a:schemeClr val="tx1"/>
                </a:solidFill>
                <a:latin typeface="SBSansDisplay-Light"/>
                <a:cs typeface="SBSansDisplay-Light"/>
              </a:defRPr>
            </a:lvl1pPr>
          </a:lstStyle>
          <a:p>
            <a:endParaRPr/>
          </a:p>
        </p:txBody>
      </p:sp>
      <p:sp>
        <p:nvSpPr>
          <p:cNvPr id="104863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3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426EA-91E3-4287-AE74-13B54D3F7B64}" type="datetime1">
              <a:rPr lang="en-US" smtClean="0"/>
              <a:t>9/19/2025</a:t>
            </a:fld>
            <a:endParaRPr lang="en-US"/>
          </a:p>
        </p:txBody>
      </p:sp>
      <p:sp>
        <p:nvSpPr>
          <p:cNvPr id="104863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2097156" name="Рисунок 6"/>
          <p:cNvPicPr>
            <a:picLocks noChangeAspect="1"/>
          </p:cNvPicPr>
          <p:nvPr userDrawn="1"/>
        </p:nvPicPr>
        <p:blipFill>
          <a:blip r:embed="rId3"/>
          <a:srcRect l="20281" t="33333" r="20790" b="33333"/>
          <a:stretch>
            <a:fillRect/>
          </a:stretch>
        </p:blipFill>
        <p:spPr bwMode="auto">
          <a:xfrm>
            <a:off x="685800" y="685800"/>
            <a:ext cx="1676400" cy="533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" preserve="1" userDrawn="1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634" name="bg object 16"/>
          <p:cNvSpPr/>
          <p:nvPr/>
        </p:nvSpPr>
        <p:spPr bwMode="auto">
          <a:xfrm>
            <a:off x="0" y="4226560"/>
            <a:ext cx="12188952" cy="2667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35" name="Holder 2"/>
          <p:cNvSpPr>
            <a:spLocks noGrp="1"/>
          </p:cNvSpPr>
          <p:nvPr>
            <p:ph type="title"/>
          </p:nvPr>
        </p:nvSpPr>
        <p:spPr bwMode="auto">
          <a:xfrm>
            <a:off x="685800" y="2667000"/>
            <a:ext cx="7493328" cy="1933575"/>
          </a:xfrm>
          <a:prstGeom prst="rect">
            <a:avLst/>
          </a:prstGeom>
        </p:spPr>
        <p:txBody>
          <a:bodyPr lIns="0" tIns="0" rIns="0" bIns="0"/>
          <a:lstStyle>
            <a:lvl1pPr>
              <a:defRPr sz="6600" b="0" i="0">
                <a:solidFill>
                  <a:schemeClr val="tx1"/>
                </a:solidFill>
                <a:latin typeface="SBSansDisplay-Light"/>
                <a:cs typeface="SBSansDisplay-Light"/>
              </a:defRPr>
            </a:lvl1pPr>
          </a:lstStyle>
          <a:p>
            <a:endParaRPr/>
          </a:p>
        </p:txBody>
      </p:sp>
      <p:sp>
        <p:nvSpPr>
          <p:cNvPr id="104863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3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2ED7B-65D8-4F15-AB72-D280608FBC7F}" type="datetime1">
              <a:rPr lang="en-US" smtClean="0"/>
              <a:t>9/19/2025</a:t>
            </a:fld>
            <a:endParaRPr lang="en-US"/>
          </a:p>
        </p:txBody>
      </p:sp>
      <p:sp>
        <p:nvSpPr>
          <p:cNvPr id="104863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654" name="Нижний колонтитул 2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endParaRPr lang="ru-RU"/>
          </a:p>
        </p:txBody>
      </p:sp>
      <p:sp>
        <p:nvSpPr>
          <p:cNvPr id="1048655" name="Дата 3"/>
          <p:cNvSpPr>
            <a:spLocks noGrp="1"/>
          </p:cNvSpPr>
          <p:nvPr>
            <p:ph type="dt" sz="half" idx="11"/>
          </p:nvPr>
        </p:nvSpPr>
        <p:spPr bwMode="auto"/>
        <p:txBody>
          <a:bodyPr/>
          <a:lstStyle/>
          <a:p>
            <a:fld id="{5BC82D98-1106-4B60-93E0-4F551CD44AB5}" type="datetime1">
              <a:rPr lang="en-US" smtClean="0"/>
              <a:t>9/19/2025</a:t>
            </a:fld>
            <a:endParaRPr lang="en-US"/>
          </a:p>
        </p:txBody>
      </p:sp>
      <p:sp>
        <p:nvSpPr>
          <p:cNvPr id="1048656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fld id="{B6F15528-21DE-4FAA-801E-634DDDAF4B2B}" type="slidenum">
              <a:rPr lang="ru-RU"/>
              <a:t>‹#›</a:t>
            </a:fld>
            <a:endParaRPr lang="ru-RU"/>
          </a:p>
        </p:txBody>
      </p:sp>
      <p:sp>
        <p:nvSpPr>
          <p:cNvPr id="1048657" name="bg object 16"/>
          <p:cNvSpPr/>
          <p:nvPr userDrawn="1"/>
        </p:nvSpPr>
        <p:spPr bwMode="auto">
          <a:xfrm>
            <a:off x="0" y="0"/>
            <a:ext cx="12188952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58" name="bg object 16"/>
          <p:cNvSpPr/>
          <p:nvPr userDrawn="1"/>
        </p:nvSpPr>
        <p:spPr bwMode="auto">
          <a:xfrm rot="10800000">
            <a:off x="3048" y="0"/>
            <a:ext cx="12188952" cy="6858000"/>
          </a:xfrm>
          <a:prstGeom prst="rect">
            <a:avLst/>
          </a:pr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619" name="object 2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20" name="Нижний колонтитул 2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endParaRPr lang="ru-RU"/>
          </a:p>
        </p:txBody>
      </p:sp>
      <p:sp>
        <p:nvSpPr>
          <p:cNvPr id="1048621" name="Дата 3"/>
          <p:cNvSpPr>
            <a:spLocks noGrp="1"/>
          </p:cNvSpPr>
          <p:nvPr>
            <p:ph type="dt" sz="half" idx="11"/>
          </p:nvPr>
        </p:nvSpPr>
        <p:spPr bwMode="auto"/>
        <p:txBody>
          <a:bodyPr/>
          <a:lstStyle/>
          <a:p>
            <a:fld id="{A57936B0-46D5-4C0A-B5A0-4F034D64EEAA}" type="datetime1">
              <a:rPr lang="en-US" smtClean="0"/>
              <a:t>9/19/2025</a:t>
            </a:fld>
            <a:endParaRPr lang="en-US"/>
          </a:p>
        </p:txBody>
      </p:sp>
      <p:sp>
        <p:nvSpPr>
          <p:cNvPr id="1048622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fld id="{B6F15528-21DE-4FAA-801E-634DDDAF4B2B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651" name="Нижний колонтитул 2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endParaRPr lang="ru-RU"/>
          </a:p>
        </p:txBody>
      </p:sp>
      <p:sp>
        <p:nvSpPr>
          <p:cNvPr id="1048652" name="Дата 3"/>
          <p:cNvSpPr>
            <a:spLocks noGrp="1"/>
          </p:cNvSpPr>
          <p:nvPr>
            <p:ph type="dt" sz="half" idx="11"/>
          </p:nvPr>
        </p:nvSpPr>
        <p:spPr bwMode="auto"/>
        <p:txBody>
          <a:bodyPr/>
          <a:lstStyle/>
          <a:p>
            <a:fld id="{4C54B663-3E26-415A-B8A2-905BDF9DE907}" type="datetime1">
              <a:rPr lang="en-US" smtClean="0"/>
              <a:t>9/19/2025</a:t>
            </a:fld>
            <a:endParaRPr lang="en-US"/>
          </a:p>
        </p:txBody>
      </p:sp>
      <p:sp>
        <p:nvSpPr>
          <p:cNvPr id="1048653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fld id="{B6F15528-21DE-4FAA-801E-634DDDAF4B2B}" type="slidenum">
              <a:rPr lang="ru-RU"/>
              <a:t>‹#›</a:t>
            </a:fld>
            <a:endParaRPr lang="ru-RU"/>
          </a:p>
        </p:txBody>
      </p:sp>
      <p:pic>
        <p:nvPicPr>
          <p:cNvPr id="2097161" name="Рисунок 12"/>
          <p:cNvPicPr>
            <a:picLocks noChangeAspect="1"/>
          </p:cNvPicPr>
          <p:nvPr userDrawn="1"/>
        </p:nvPicPr>
        <p:blipFill>
          <a:blip r:embed="rId2"/>
          <a:srcRect l="29244" t="29959" r="23998" b="14575"/>
          <a:stretch>
            <a:fillRect/>
          </a:stretch>
        </p:blipFill>
        <p:spPr bwMode="auto">
          <a:xfrm rot="427144" flipH="1">
            <a:off x="525582" y="-542919"/>
            <a:ext cx="12670191" cy="846739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64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4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D3AD0-0FC0-454C-82F1-A984C4CCCEFF}" type="datetime1">
              <a:rPr lang="en-US" smtClean="0"/>
              <a:t>9/19/2025</a:t>
            </a:fld>
            <a:endParaRPr lang="en-US"/>
          </a:p>
        </p:txBody>
      </p:sp>
      <p:sp>
        <p:nvSpPr>
          <p:cNvPr id="104864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Титульный слайд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43976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Только заголовок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0549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57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57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2E6F0-B0CD-4318-8DDE-237D223467E9}" type="datetime1">
              <a:rPr lang="en-US" smtClean="0"/>
              <a:t>9/19/2025</a:t>
            </a:fld>
            <a:endParaRPr lang="en-US"/>
          </a:p>
        </p:txBody>
      </p:sp>
      <p:sp>
        <p:nvSpPr>
          <p:cNvPr id="104857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1048579" name="Заголовок 7"/>
          <p:cNvSpPr>
            <a:spLocks noGrp="1"/>
          </p:cNvSpPr>
          <p:nvPr>
            <p:ph type="title"/>
          </p:nvPr>
        </p:nvSpPr>
        <p:spPr bwMode="auto">
          <a:xfrm>
            <a:off x="685800" y="26670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77" r:id="rId15"/>
    <p:sldLayoutId id="2147483678" r:id="rId16"/>
  </p:sldLayoutIdLst>
  <p:hf hdr="0" ftr="0" dt="0"/>
  <p:txStyles>
    <p:titleStyle>
      <a:lvl1pPr>
        <a:defRPr sz="6000" b="0" i="0">
          <a:latin typeface="SB Sans Display Light"/>
          <a:ea typeface="+mj-ea"/>
          <a:cs typeface="SB Sans Display Light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Relationship Id="rId5" Type="http://schemas.openxmlformats.org/officeDocument/2006/relationships/hyperlink" Target="https://www.anyscale.com/blog/a-comprehensive-guide-for-building-rag-based-llm-applications-part-1" TargetMode="Externa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Relationship Id="rId5" Type="http://schemas.openxmlformats.org/officeDocument/2006/relationships/hyperlink" Target="https://share.streamlit.io/" TargetMode="Externa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12.png"/><Relationship Id="rId7" Type="http://schemas.openxmlformats.org/officeDocument/2006/relationships/image" Target="../media/image23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share.streamlit.io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Relationship Id="rId5" Type="http://schemas.openxmlformats.org/officeDocument/2006/relationships/hyperlink" Target="https://pse-project-rag-pure.streamlit.app/" TargetMode="External"/><Relationship Id="rId4" Type="http://schemas.openxmlformats.org/officeDocument/2006/relationships/hyperlink" Target="https://git.standard-data.ru/course_llm_ds/llm-for-ds-homeworks/-/tree/pse_progect_llm_rag_final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1.png"/><Relationship Id="rId7" Type="http://schemas.openxmlformats.org/officeDocument/2006/relationships/hyperlink" Target="https://www.intel.com/content/dam/develop/public/us/en/documents/langchain-retrieval-augmented-generation-white-paper.pd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hyperlink" Target="https://tesseract-ocr.github.io/tessdoc/Installation.html" TargetMode="External"/><Relationship Id="rId5" Type="http://schemas.openxmlformats.org/officeDocument/2006/relationships/hyperlink" Target="https://streamlit.io/" TargetMode="External"/><Relationship Id="rId4" Type="http://schemas.openxmlformats.org/officeDocument/2006/relationships/hyperlink" Target="https://unstructured.io/blog/rag-whitepaper" TargetMode="External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g1f7fd1cc82b_0_0"/>
          <p:cNvPicPr preferRelativeResize="0"/>
          <p:nvPr/>
        </p:nvPicPr>
        <p:blipFill rotWithShape="1">
          <a:blip r:embed="rId3">
            <a:alphaModFix/>
          </a:blip>
          <a:srcRect l="9" r="9"/>
          <a:stretch/>
        </p:blipFill>
        <p:spPr>
          <a:xfrm>
            <a:off x="-7986" y="0"/>
            <a:ext cx="12199985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1f7fd1cc82b_0_0"/>
          <p:cNvSpPr txBox="1"/>
          <p:nvPr/>
        </p:nvSpPr>
        <p:spPr>
          <a:xfrm>
            <a:off x="1177574" y="2598003"/>
            <a:ext cx="9874179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rtl="0">
              <a:buClr>
                <a:srgbClr val="000000"/>
              </a:buClr>
              <a:buSzPts val="3600"/>
            </a:pPr>
            <a:r>
              <a:rPr lang="ru-RU" altLang="en-US" sz="36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Итогов</a:t>
            </a:r>
            <a:r>
              <a:rPr lang="ru-RU" sz="36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ый проект</a:t>
            </a:r>
            <a:br>
              <a:rPr lang="ru-RU" sz="36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</a:br>
            <a:r>
              <a:rPr lang="ru-RU" sz="36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«Мультимодальная RAG-система на данных отчета Сбера за 2023 год»</a:t>
            </a:r>
            <a:endParaRPr lang="zh-CN" altLang="en-US" sz="3600" dirty="0">
              <a:solidFill>
                <a:srgbClr val="082326"/>
              </a:solidFill>
              <a:latin typeface="Montserrat ExtraBold"/>
              <a:ea typeface="Montserrat ExtraBold"/>
              <a:cs typeface="Montserrat ExtraBold"/>
            </a:endParaRPr>
          </a:p>
        </p:txBody>
      </p:sp>
      <p:sp>
        <p:nvSpPr>
          <p:cNvPr id="105" name="Google Shape;105;g1f7fd1cc82b_0_0"/>
          <p:cNvSpPr txBox="1"/>
          <p:nvPr/>
        </p:nvSpPr>
        <p:spPr>
          <a:xfrm>
            <a:off x="263352" y="5517232"/>
            <a:ext cx="5616624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rtl="0">
              <a:lnSpc>
                <a:spcPct val="150000"/>
              </a:lnSpc>
              <a:buClr>
                <a:srgbClr val="000000"/>
              </a:buClr>
              <a:buSzPct val="50000"/>
            </a:pPr>
            <a:r>
              <a:rPr lang="ru-RU" altLang="en-US" sz="2400" dirty="0">
                <a:solidFill>
                  <a:srgbClr val="082326"/>
                </a:solidFill>
                <a:latin typeface="Montserrat Medium"/>
                <a:ea typeface="Montserrat Medium"/>
                <a:cs typeface="Montserrat Medium"/>
              </a:rPr>
              <a:t>Панарин Сергей Евгеньевич</a:t>
            </a:r>
          </a:p>
        </p:txBody>
      </p:sp>
      <p:pic>
        <p:nvPicPr>
          <p:cNvPr id="2" name="Google Shape;166;g2cf6a24b2c0_0_2">
            <a:extLst>
              <a:ext uri="{FF2B5EF4-FFF2-40B4-BE49-F238E27FC236}">
                <a16:creationId xmlns:a16="http://schemas.microsoft.com/office/drawing/2014/main" id="{08E9CE62-DF87-96EF-909F-D84E7001242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009" b="1009"/>
          <a:stretch/>
        </p:blipFill>
        <p:spPr>
          <a:xfrm>
            <a:off x="9288250" y="272044"/>
            <a:ext cx="2520003" cy="2230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04;g1f7fd1cc82b_0_0">
            <a:extLst>
              <a:ext uri="{FF2B5EF4-FFF2-40B4-BE49-F238E27FC236}">
                <a16:creationId xmlns:a16="http://schemas.microsoft.com/office/drawing/2014/main" id="{75C6F21B-8C15-06A6-3A87-512BC6199FA3}"/>
              </a:ext>
            </a:extLst>
          </p:cNvPr>
          <p:cNvSpPr txBox="1"/>
          <p:nvPr/>
        </p:nvSpPr>
        <p:spPr>
          <a:xfrm>
            <a:off x="479376" y="1015971"/>
            <a:ext cx="1127057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rtl="0">
              <a:buClr>
                <a:srgbClr val="000000"/>
              </a:buClr>
              <a:buSzPts val="3600"/>
            </a:pPr>
            <a:r>
              <a:rPr lang="ru-RU" altLang="en-US" sz="16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Курс </a:t>
            </a:r>
            <a:r>
              <a:rPr lang="ru-RU" sz="16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«</a:t>
            </a:r>
            <a:r>
              <a:rPr lang="ru-RU" altLang="en-US" sz="16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Большие языковые модели:</a:t>
            </a:r>
            <a:r>
              <a:rPr lang="en-US" altLang="en-US" sz="16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 </a:t>
            </a:r>
            <a:r>
              <a:rPr lang="ru-RU" altLang="en-US" sz="16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от архитектур до построения мультимодальных систем</a:t>
            </a:r>
            <a:r>
              <a:rPr lang="ru-RU" sz="16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»</a:t>
            </a:r>
            <a:endParaRPr lang="zh-CN" altLang="en-US" sz="1600" dirty="0">
              <a:solidFill>
                <a:srgbClr val="082326"/>
              </a:solidFill>
              <a:latin typeface="Montserrat ExtraBold"/>
              <a:ea typeface="Montserrat ExtraBold"/>
              <a:cs typeface="Montserrat ExtraBold"/>
            </a:endParaRPr>
          </a:p>
        </p:txBody>
      </p:sp>
      <p:sp>
        <p:nvSpPr>
          <p:cNvPr id="5" name="Google Shape;105;g1f7fd1cc82b_0_0">
            <a:extLst>
              <a:ext uri="{FF2B5EF4-FFF2-40B4-BE49-F238E27FC236}">
                <a16:creationId xmlns:a16="http://schemas.microsoft.com/office/drawing/2014/main" id="{88A5DB29-906D-ADCF-3948-194F09A81B9F}"/>
              </a:ext>
            </a:extLst>
          </p:cNvPr>
          <p:cNvSpPr txBox="1"/>
          <p:nvPr/>
        </p:nvSpPr>
        <p:spPr>
          <a:xfrm>
            <a:off x="9048328" y="5517232"/>
            <a:ext cx="2592288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algn="r" rtl="0">
              <a:lnSpc>
                <a:spcPct val="150000"/>
              </a:lnSpc>
              <a:buClr>
                <a:srgbClr val="000000"/>
              </a:buClr>
              <a:buSzPct val="50000"/>
            </a:pPr>
            <a:r>
              <a:rPr lang="en-US" altLang="en-US" sz="2400" dirty="0">
                <a:solidFill>
                  <a:srgbClr val="082326"/>
                </a:solidFill>
                <a:latin typeface="Montserrat Medium"/>
                <a:ea typeface="Montserrat Medium"/>
                <a:cs typeface="Montserrat Medium"/>
              </a:rPr>
              <a:t>22.09.2025</a:t>
            </a:r>
            <a:endParaRPr lang="ru-RU" altLang="en-US" sz="2400" dirty="0">
              <a:solidFill>
                <a:srgbClr val="082326"/>
              </a:solidFill>
              <a:latin typeface="Montserrat Medium"/>
              <a:ea typeface="Montserrat Medium"/>
              <a:cs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165806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163;g2cf6a24b2c0_0_2">
            <a:extLst>
              <a:ext uri="{FF2B5EF4-FFF2-40B4-BE49-F238E27FC236}">
                <a16:creationId xmlns:a16="http://schemas.microsoft.com/office/drawing/2014/main" id="{D78E3E52-15C4-C215-E4B4-B06D3B49DAE5}"/>
              </a:ext>
            </a:extLst>
          </p:cNvPr>
          <p:cNvSpPr txBox="1"/>
          <p:nvPr/>
        </p:nvSpPr>
        <p:spPr>
          <a:xfrm>
            <a:off x="461377" y="891207"/>
            <a:ext cx="1170364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wrap="square" lIns="0" tIns="0" rIns="0" bIns="0" anchor="t" anchorCtr="0">
            <a:spAutoFit/>
          </a:bodyPr>
          <a:lstStyle/>
          <a:p>
            <a:pPr lvl="0" rtl="0">
              <a:buClr>
                <a:srgbClr val="000000"/>
              </a:buClr>
              <a:buSzPts val="3600"/>
            </a:pP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Актуальность темы и ее проблематика</a:t>
            </a:r>
            <a:endParaRPr sz="2800" b="0" i="0" u="none" strike="noStrike" cap="none" dirty="0">
              <a:solidFill>
                <a:srgbClr val="08232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1" name="Google Shape;164;g2cf6a24b2c0_0_2">
            <a:extLst>
              <a:ext uri="{FF2B5EF4-FFF2-40B4-BE49-F238E27FC236}">
                <a16:creationId xmlns:a16="http://schemas.microsoft.com/office/drawing/2014/main" id="{C5335E28-8476-0ACF-929B-A167EC14A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79" b="179"/>
          <a:stretch/>
        </p:blipFill>
        <p:spPr>
          <a:xfrm>
            <a:off x="1075" y="0"/>
            <a:ext cx="12189848" cy="78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166;g2cf6a24b2c0_0_2">
            <a:extLst>
              <a:ext uri="{FF2B5EF4-FFF2-40B4-BE49-F238E27FC236}">
                <a16:creationId xmlns:a16="http://schemas.microsoft.com/office/drawing/2014/main" id="{041F444A-5A29-3A24-0722-B3B1E1FB6F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009" b="1009"/>
          <a:stretch/>
        </p:blipFill>
        <p:spPr>
          <a:xfrm>
            <a:off x="9288250" y="272044"/>
            <a:ext cx="2520003" cy="2230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BCC831-AC93-934B-A2DC-6CD8344C378D}"/>
              </a:ext>
            </a:extLst>
          </p:cNvPr>
          <p:cNvSpPr txBox="1"/>
          <p:nvPr/>
        </p:nvSpPr>
        <p:spPr>
          <a:xfrm>
            <a:off x="695400" y="2218715"/>
            <a:ext cx="10081120" cy="9541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sz="2000" b="1" kern="1200" dirty="0">
                <a:latin typeface="Montserrat SemiBold" panose="00000700000000000000" pitchFamily="2" charset="-52"/>
                <a:cs typeface="SB Sans Display" panose="020B0503040504020204" pitchFamily="34" charset="0"/>
              </a:rPr>
              <a:t>Не актуальность информации</a:t>
            </a:r>
          </a:p>
          <a:p>
            <a:pPr marL="742950" lvl="1" indent="-285750" algn="just" rtl="0">
              <a:buFont typeface="Arial" panose="020B0604020202020204" pitchFamily="34" charset="0"/>
              <a:buChar char="•"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LLM обучаются на определенном наборе данных и их знания "замораживаются" на момент окончания обучения.</a:t>
            </a:r>
          </a:p>
          <a:p>
            <a:pPr marL="742950" lvl="1" indent="-285750" algn="just" rtl="0">
              <a:buFont typeface="Arial" panose="020B0604020202020204" pitchFamily="34" charset="0"/>
              <a:buChar char="•"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</a:rPr>
              <a:t>RAG позволяет "подключать" LLM к актуальным источникам информации.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54CCD6-6279-597C-421D-940EBC07C221}"/>
              </a:ext>
            </a:extLst>
          </p:cNvPr>
          <p:cNvSpPr txBox="1"/>
          <p:nvPr/>
        </p:nvSpPr>
        <p:spPr>
          <a:xfrm>
            <a:off x="693520" y="3199195"/>
            <a:ext cx="10081120" cy="11695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Галлюцинации 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Hallucinations)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ontserrat SemiBold" panose="00000700000000000000" pitchFamily="2" charset="-52"/>
              <a:ea typeface="+mn-ea"/>
              <a:cs typeface="SB Sans Display" panose="020B0503040504020204" pitchFamily="34" charset="0"/>
            </a:endParaRPr>
          </a:p>
          <a:p>
            <a:pPr marL="742950" lvl="1" indent="-285750" algn="just" rtl="0">
              <a:buFont typeface="Arial" panose="020B0604020202020204" pitchFamily="34" charset="0"/>
              <a:buChar char="•"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LLM могут генерировать убедительно звучащие, но абсолютно выдуманные факты. Это происходит потому, что они предсказывают следующее слово на основе вероятностей, а не обращаются к факт</a:t>
            </a:r>
            <a:r>
              <a:rPr lang="ru-RU" sz="1400" b="1" kern="1200" dirty="0">
                <a:solidFill>
                  <a:schemeClr val="tx2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и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ческой базе.</a:t>
            </a:r>
          </a:p>
          <a:p>
            <a:pPr marL="742950" lvl="1" indent="-285750" algn="just" rtl="0">
              <a:buFont typeface="Arial" panose="020B0604020202020204" pitchFamily="34" charset="0"/>
              <a:buChar char="•"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</a:rPr>
              <a:t>RAG предоставляет модели контекст, на основе которых нужно строить ответ.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B4BED2-6237-DD9C-A654-B40041C44A46}"/>
              </a:ext>
            </a:extLst>
          </p:cNvPr>
          <p:cNvSpPr txBox="1"/>
          <p:nvPr/>
        </p:nvSpPr>
        <p:spPr>
          <a:xfrm>
            <a:off x="693520" y="4470526"/>
            <a:ext cx="10081120" cy="9541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just" rtl="0">
              <a:defRPr/>
            </a:pPr>
            <a:r>
              <a:rPr lang="ru-RU" sz="2000" b="1" kern="1200" dirty="0">
                <a:latin typeface="Montserrat SemiBold" panose="00000700000000000000" pitchFamily="2" charset="-52"/>
                <a:cs typeface="SB Sans Display" panose="020B0503040504020204" pitchFamily="34" charset="0"/>
              </a:rPr>
              <a:t>Отсутствие знаний доменной области</a:t>
            </a:r>
          </a:p>
          <a:p>
            <a:pPr marL="742950" lvl="1" indent="-285750" algn="just" rtl="0">
              <a:buFont typeface="Arial" panose="020B0604020202020204" pitchFamily="34" charset="0"/>
              <a:buChar char="•"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LLM</a:t>
            </a:r>
            <a:r>
              <a:rPr lang="en-US" sz="1400" b="1" kern="1200" dirty="0">
                <a:solidFill>
                  <a:schemeClr val="tx2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, </a:t>
            </a:r>
            <a:r>
              <a:rPr lang="ru-RU" sz="1400" b="1" kern="1200" dirty="0">
                <a:solidFill>
                  <a:schemeClr val="tx2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как правило</a:t>
            </a:r>
            <a:r>
              <a:rPr lang="en-US" sz="1400" b="1" kern="1200" dirty="0">
                <a:solidFill>
                  <a:schemeClr val="tx2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,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не имеют доступа </a:t>
            </a:r>
            <a:r>
              <a:rPr lang="ru-RU" sz="1400" b="1" kern="1200" dirty="0">
                <a:solidFill>
                  <a:schemeClr val="tx2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к внутренним документам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, мануалам, переписке в корпоративном чате, данным из CRM-системы.</a:t>
            </a:r>
          </a:p>
          <a:p>
            <a:pPr marL="742950" lvl="1" indent="-285750" algn="just" rtl="0">
              <a:buFont typeface="Arial" panose="020B0604020202020204" pitchFamily="34" charset="0"/>
              <a:buChar char="•"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Можно создать векторную базу данных из своих собственных документов.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750512-97E3-D271-66CF-9321157D2276}"/>
              </a:ext>
            </a:extLst>
          </p:cNvPr>
          <p:cNvSpPr txBox="1"/>
          <p:nvPr/>
        </p:nvSpPr>
        <p:spPr>
          <a:xfrm>
            <a:off x="693520" y="5526414"/>
            <a:ext cx="10081120" cy="9541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just" rtl="0">
              <a:defRPr/>
            </a:pPr>
            <a:r>
              <a:rPr lang="ru-RU" sz="2000" b="1" kern="1200" dirty="0">
                <a:latin typeface="Montserrat SemiBold" panose="00000700000000000000" pitchFamily="2" charset="-52"/>
                <a:cs typeface="SB Sans Display" panose="020B0503040504020204" pitchFamily="34" charset="0"/>
              </a:rPr>
              <a:t>Проблемы с </a:t>
            </a:r>
            <a:r>
              <a:rPr lang="ru-RU" sz="2000" b="1" kern="1200" dirty="0" err="1">
                <a:latin typeface="Montserrat SemiBold" panose="00000700000000000000" pitchFamily="2" charset="-52"/>
                <a:cs typeface="SB Sans Display" panose="020B0503040504020204" pitchFamily="34" charset="0"/>
              </a:rPr>
              <a:t>отслеживаемостью</a:t>
            </a:r>
            <a:r>
              <a:rPr lang="ru-RU" sz="2000" b="1" kern="1200" dirty="0">
                <a:latin typeface="Montserrat SemiBold" panose="00000700000000000000" pitchFamily="2" charset="-52"/>
                <a:cs typeface="SB Sans Display" panose="020B0503040504020204" pitchFamily="34" charset="0"/>
              </a:rPr>
              <a:t> и доверием (</a:t>
            </a:r>
            <a:r>
              <a:rPr lang="ru-RU" sz="2000" b="1" kern="1200" dirty="0" err="1">
                <a:latin typeface="Montserrat SemiBold" panose="00000700000000000000" pitchFamily="2" charset="-52"/>
                <a:cs typeface="SB Sans Display" panose="020B0503040504020204" pitchFamily="34" charset="0"/>
              </a:rPr>
              <a:t>Traceability</a:t>
            </a:r>
            <a:r>
              <a:rPr lang="ru-RU" sz="2000" b="1" kern="1200" dirty="0">
                <a:latin typeface="Montserrat SemiBold" panose="00000700000000000000" pitchFamily="2" charset="-52"/>
                <a:cs typeface="SB Sans Display" panose="020B0503040504020204" pitchFamily="34" charset="0"/>
              </a:rPr>
              <a:t> &amp; Trust)</a:t>
            </a:r>
          </a:p>
          <a:p>
            <a:pPr marL="742950" lvl="1" indent="-285750" algn="just" rtl="0">
              <a:buFont typeface="Arial" panose="020B0604020202020204" pitchFamily="34" charset="0"/>
              <a:buChar char="•"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LLM выдает ответ и часто невозможно понять, на чем он основан. Это критично в таких областях, как медицина, юриспруденция, финансы.</a:t>
            </a:r>
          </a:p>
          <a:p>
            <a:pPr marL="742950" lvl="1" indent="-285750" algn="just" rtl="0">
              <a:buFont typeface="Arial" panose="020B0604020202020204" pitchFamily="34" charset="0"/>
              <a:buChar char="•"/>
              <a:defRPr/>
            </a:pPr>
            <a:r>
              <a:rPr lang="en-US" sz="1400" kern="1200" dirty="0">
                <a:solidFill>
                  <a:schemeClr val="tx2"/>
                </a:solidFill>
                <a:latin typeface="Montserrat SemiBold" panose="00000700000000000000" pitchFamily="2" charset="-52"/>
              </a:rPr>
              <a:t>RAG </a:t>
            </a:r>
            <a:r>
              <a:rPr lang="ru-RU" sz="1400" kern="1200" dirty="0">
                <a:solidFill>
                  <a:schemeClr val="tx2"/>
                </a:solidFill>
                <a:latin typeface="Montserrat SemiBold" panose="00000700000000000000" pitchFamily="2" charset="-52"/>
              </a:rPr>
              <a:t>позволяет цитировать источники. 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CB502E-120C-4962-0779-53A66E290C8D}"/>
              </a:ext>
            </a:extLst>
          </p:cNvPr>
          <p:cNvSpPr txBox="1"/>
          <p:nvPr/>
        </p:nvSpPr>
        <p:spPr>
          <a:xfrm>
            <a:off x="479376" y="1700808"/>
            <a:ext cx="11251247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rtl="0">
              <a:defRPr/>
            </a:pPr>
            <a:r>
              <a:rPr lang="ru-RU" sz="2200" b="1" kern="1200" dirty="0">
                <a:solidFill>
                  <a:srgbClr val="00206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Retrieval Augmented Generation (RAG</a:t>
            </a: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) решает </a:t>
            </a:r>
            <a:r>
              <a:rPr lang="ru-RU" sz="2200" b="1" kern="1200" dirty="0">
                <a:solidFill>
                  <a:srgbClr val="00206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ряд </a:t>
            </a: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ограничений LLM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535F55-E93E-3E67-075D-8B70915AAE7C}"/>
              </a:ext>
            </a:extLst>
          </p:cNvPr>
          <p:cNvSpPr txBox="1"/>
          <p:nvPr/>
        </p:nvSpPr>
        <p:spPr>
          <a:xfrm>
            <a:off x="11537313" y="6436768"/>
            <a:ext cx="5040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kern="1200" dirty="0">
                <a:cs typeface="SB Sans Display" panose="020B0503040504020204" pitchFamily="34" charset="0"/>
              </a:rPr>
              <a:t>2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489498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63;g2cf6a24b2c0_0_2">
            <a:extLst>
              <a:ext uri="{FF2B5EF4-FFF2-40B4-BE49-F238E27FC236}">
                <a16:creationId xmlns:a16="http://schemas.microsoft.com/office/drawing/2014/main" id="{7FEE7D93-AEE5-EC34-C87D-3852E45F679F}"/>
              </a:ext>
            </a:extLst>
          </p:cNvPr>
          <p:cNvSpPr txBox="1"/>
          <p:nvPr/>
        </p:nvSpPr>
        <p:spPr>
          <a:xfrm>
            <a:off x="461377" y="891207"/>
            <a:ext cx="11346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wrap="square" lIns="0" tIns="0" rIns="0" bIns="0" anchor="t" anchorCtr="0">
            <a:spAutoFit/>
          </a:bodyPr>
          <a:lstStyle/>
          <a:p>
            <a:pPr lvl="0" rtl="0">
              <a:buClr>
                <a:srgbClr val="000000"/>
              </a:buClr>
              <a:buSzPts val="3600"/>
            </a:pP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Общая схема работы </a:t>
            </a:r>
            <a:r>
              <a:rPr lang="en-US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Retrieval Augmented Generation</a:t>
            </a:r>
          </a:p>
        </p:txBody>
      </p:sp>
      <p:pic>
        <p:nvPicPr>
          <p:cNvPr id="31" name="Google Shape;164;g2cf6a24b2c0_0_2">
            <a:extLst>
              <a:ext uri="{FF2B5EF4-FFF2-40B4-BE49-F238E27FC236}">
                <a16:creationId xmlns:a16="http://schemas.microsoft.com/office/drawing/2014/main" id="{C5335E28-8476-0ACF-929B-A167EC14A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79" b="179"/>
          <a:stretch/>
        </p:blipFill>
        <p:spPr>
          <a:xfrm>
            <a:off x="1075" y="0"/>
            <a:ext cx="12189848" cy="78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166;g2cf6a24b2c0_0_2">
            <a:extLst>
              <a:ext uri="{FF2B5EF4-FFF2-40B4-BE49-F238E27FC236}">
                <a16:creationId xmlns:a16="http://schemas.microsoft.com/office/drawing/2014/main" id="{041F444A-5A29-3A24-0722-B3B1E1FB6F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009" b="1009"/>
          <a:stretch/>
        </p:blipFill>
        <p:spPr>
          <a:xfrm>
            <a:off x="9288250" y="272044"/>
            <a:ext cx="2520003" cy="22303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198A2A1-9F72-F435-7616-13AD32C10199}"/>
              </a:ext>
            </a:extLst>
          </p:cNvPr>
          <p:cNvSpPr txBox="1"/>
          <p:nvPr/>
        </p:nvSpPr>
        <p:spPr>
          <a:xfrm>
            <a:off x="627135" y="2393759"/>
            <a:ext cx="5199366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1. Обработка запроса: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вопрос, промпт  на который должна ответить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 </a:t>
            </a:r>
            <a:r>
              <a:rPr lang="en-US" sz="14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LLM</a:t>
            </a:r>
            <a:r>
              <a:rPr lang="ru-RU" sz="14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.</a:t>
            </a:r>
            <a:endParaRPr kumimoji="0" lang="ru-RU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18F6757-533D-C8EA-AAEC-F9DA950A0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815" y="1989593"/>
            <a:ext cx="5453133" cy="3654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A17C93-B6CF-D590-4607-62FCE3014B2B}"/>
              </a:ext>
            </a:extLst>
          </p:cNvPr>
          <p:cNvSpPr txBox="1"/>
          <p:nvPr/>
        </p:nvSpPr>
        <p:spPr>
          <a:xfrm>
            <a:off x="5472987" y="6202283"/>
            <a:ext cx="63352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b="0" i="0" dirty="0">
                <a:solidFill>
                  <a:srgbClr val="909090"/>
                </a:solidFill>
                <a:effectLst/>
                <a:latin typeface="-apple-system"/>
              </a:rPr>
              <a:t>Image Source: </a:t>
            </a:r>
            <a:r>
              <a:rPr lang="fr-FR" sz="1000" b="0" i="0" u="sng" strike="noStrike" dirty="0">
                <a:solidFill>
                  <a:srgbClr val="548EAA"/>
                </a:solidFill>
                <a:effectLst/>
                <a:latin typeface="-apple-system"/>
                <a:hlinkClick r:id="rId5"/>
              </a:rPr>
              <a:t>https://www.anyscale.com/blog/a-comprehensive-guide-for-building-rag-based-llm-applications-part-1</a:t>
            </a:r>
            <a:endParaRPr lang="ru-RU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7CF0B8-CB51-9BE8-6588-E25CAC53B76D}"/>
              </a:ext>
            </a:extLst>
          </p:cNvPr>
          <p:cNvSpPr txBox="1"/>
          <p:nvPr/>
        </p:nvSpPr>
        <p:spPr>
          <a:xfrm>
            <a:off x="608602" y="2996952"/>
            <a:ext cx="5199366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2.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 Модель векторизации: запрос передаётся в модель векторизации, которая преобразует его в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embedding - 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численное представление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 (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вектор)</a:t>
            </a:r>
            <a:r>
              <a:rPr lang="en-US" sz="14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D5ECFB-2D36-D49E-FCA0-2113EF060989}"/>
              </a:ext>
            </a:extLst>
          </p:cNvPr>
          <p:cNvSpPr txBox="1"/>
          <p:nvPr/>
        </p:nvSpPr>
        <p:spPr>
          <a:xfrm>
            <a:off x="608602" y="3817090"/>
            <a:ext cx="5199366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3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.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 Поиск в векторной базе данных: система извлекает наиболее релевантные контексты, основываясь на том, насколько близки их векторы к вектору запроса.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12E3F-5DF7-2EF0-8D50-2E4BB9F5D9D4}"/>
              </a:ext>
            </a:extLst>
          </p:cNvPr>
          <p:cNvSpPr txBox="1"/>
          <p:nvPr/>
        </p:nvSpPr>
        <p:spPr>
          <a:xfrm>
            <a:off x="608602" y="4852671"/>
            <a:ext cx="5199366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4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.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 Дополнение контекста: изначальный запрос дополняется контекстом из векторной базы данных, и вместе они передаются в LLM.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653659-922E-8CD1-8913-395DAF585D36}"/>
              </a:ext>
            </a:extLst>
          </p:cNvPr>
          <p:cNvSpPr txBox="1"/>
          <p:nvPr/>
        </p:nvSpPr>
        <p:spPr>
          <a:xfrm>
            <a:off x="608602" y="5670712"/>
            <a:ext cx="5199366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5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.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 Генерация ответа LLM: учитывается не только исходный запрос, но и дополнительный контекст для создания полного и релевантного ответа.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FB27C6-5B2D-E4BD-A626-9D485D65FDFC}"/>
              </a:ext>
            </a:extLst>
          </p:cNvPr>
          <p:cNvSpPr txBox="1"/>
          <p:nvPr/>
        </p:nvSpPr>
        <p:spPr>
          <a:xfrm>
            <a:off x="461377" y="1700808"/>
            <a:ext cx="4626511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Общая схема работы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RAG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3FA8F0-0DF0-A45A-2F92-3E380DADEB21}"/>
              </a:ext>
            </a:extLst>
          </p:cNvPr>
          <p:cNvSpPr txBox="1"/>
          <p:nvPr/>
        </p:nvSpPr>
        <p:spPr>
          <a:xfrm>
            <a:off x="11537313" y="6436768"/>
            <a:ext cx="5040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kern="1200" dirty="0">
                <a:cs typeface="SB Sans Display" panose="020B0503040504020204" pitchFamily="34" charset="0"/>
              </a:rPr>
              <a:t>3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69786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B701BB-65B8-71CB-1EF4-9127E4007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164;g2cf6a24b2c0_0_2">
            <a:extLst>
              <a:ext uri="{FF2B5EF4-FFF2-40B4-BE49-F238E27FC236}">
                <a16:creationId xmlns:a16="http://schemas.microsoft.com/office/drawing/2014/main" id="{FED54DD0-999F-1F77-3C22-657C48CD153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79" b="179"/>
          <a:stretch/>
        </p:blipFill>
        <p:spPr>
          <a:xfrm>
            <a:off x="1075" y="0"/>
            <a:ext cx="12189848" cy="78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166;g2cf6a24b2c0_0_2">
            <a:extLst>
              <a:ext uri="{FF2B5EF4-FFF2-40B4-BE49-F238E27FC236}">
                <a16:creationId xmlns:a16="http://schemas.microsoft.com/office/drawing/2014/main" id="{AA986D68-B742-2A25-5FE4-64B7DCA2D44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009" b="1009"/>
          <a:stretch/>
        </p:blipFill>
        <p:spPr>
          <a:xfrm>
            <a:off x="9288250" y="272044"/>
            <a:ext cx="2520003" cy="22303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F88BC10-7E1A-344C-90DD-9399B2835D5F}"/>
              </a:ext>
            </a:extLst>
          </p:cNvPr>
          <p:cNvSpPr txBox="1"/>
          <p:nvPr/>
        </p:nvSpPr>
        <p:spPr>
          <a:xfrm>
            <a:off x="461377" y="1700808"/>
            <a:ext cx="6495741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Архитектура проекта</a:t>
            </a:r>
          </a:p>
        </p:txBody>
      </p:sp>
      <p:sp>
        <p:nvSpPr>
          <p:cNvPr id="2" name="Google Shape;163;g2cf6a24b2c0_0_2">
            <a:extLst>
              <a:ext uri="{FF2B5EF4-FFF2-40B4-BE49-F238E27FC236}">
                <a16:creationId xmlns:a16="http://schemas.microsoft.com/office/drawing/2014/main" id="{502BBDC8-A245-F185-AC4E-3B47D37F1718}"/>
              </a:ext>
            </a:extLst>
          </p:cNvPr>
          <p:cNvSpPr txBox="1"/>
          <p:nvPr/>
        </p:nvSpPr>
        <p:spPr>
          <a:xfrm>
            <a:off x="461377" y="891207"/>
            <a:ext cx="11346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wrap="square" lIns="0" tIns="0" rIns="0" bIns="0" anchor="t" anchorCtr="0">
            <a:spAutoFit/>
          </a:bodyPr>
          <a:lstStyle/>
          <a:p>
            <a:pPr lvl="0" rtl="0">
              <a:buClr>
                <a:srgbClr val="000000"/>
              </a:buClr>
              <a:buSzPts val="3600"/>
            </a:pP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Мультимодальная </a:t>
            </a:r>
            <a:r>
              <a:rPr lang="en-US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RAG-</a:t>
            </a: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система</a:t>
            </a:r>
            <a:endParaRPr lang="en-US" sz="2800" dirty="0">
              <a:solidFill>
                <a:srgbClr val="082326"/>
              </a:solidFill>
              <a:latin typeface="Montserrat ExtraBold"/>
              <a:ea typeface="Montserrat ExtraBold"/>
              <a:cs typeface="Montserrat ExtraBold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0D67DACA-515F-2E8D-01C3-30D9B57826FA}"/>
              </a:ext>
            </a:extLst>
          </p:cNvPr>
          <p:cNvSpPr/>
          <p:nvPr/>
        </p:nvSpPr>
        <p:spPr>
          <a:xfrm>
            <a:off x="560026" y="3014075"/>
            <a:ext cx="1728192" cy="108012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PDF</a:t>
            </a:r>
            <a:r>
              <a:rPr lang="ru-RU" dirty="0"/>
              <a:t> </a:t>
            </a:r>
            <a:r>
              <a:rPr lang="en-US" dirty="0"/>
              <a:t>file</a:t>
            </a:r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B842DAE4-8C3C-69A0-7841-6E7F85EEC077}"/>
              </a:ext>
            </a:extLst>
          </p:cNvPr>
          <p:cNvSpPr/>
          <p:nvPr/>
        </p:nvSpPr>
        <p:spPr>
          <a:xfrm>
            <a:off x="2768195" y="3012834"/>
            <a:ext cx="1728192" cy="1080120"/>
          </a:xfrm>
          <a:prstGeom prst="round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preprocessing</a:t>
            </a:r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C960305-F7FB-1759-1358-ACAC3884DE7F}"/>
              </a:ext>
            </a:extLst>
          </p:cNvPr>
          <p:cNvSpPr/>
          <p:nvPr/>
        </p:nvSpPr>
        <p:spPr>
          <a:xfrm>
            <a:off x="7689659" y="3012210"/>
            <a:ext cx="1728192" cy="108012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RAG pipeline</a:t>
            </a:r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BF03DDE5-71E0-CA6F-6EF6-16B29BCA4FF1}"/>
              </a:ext>
            </a:extLst>
          </p:cNvPr>
          <p:cNvSpPr/>
          <p:nvPr/>
        </p:nvSpPr>
        <p:spPr>
          <a:xfrm>
            <a:off x="9943126" y="3012210"/>
            <a:ext cx="1771718" cy="108012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Streamlit WEB visualization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6A8B888-7FD9-57A7-6ADA-5A450F62ECFB}"/>
              </a:ext>
            </a:extLst>
          </p:cNvPr>
          <p:cNvSpPr/>
          <p:nvPr/>
        </p:nvSpPr>
        <p:spPr>
          <a:xfrm>
            <a:off x="5228926" y="2316928"/>
            <a:ext cx="1728192" cy="427866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file PKL #1</a:t>
            </a:r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313397A-B4B4-7ED9-B139-68844EDB7E34}"/>
              </a:ext>
            </a:extLst>
          </p:cNvPr>
          <p:cNvSpPr/>
          <p:nvPr/>
        </p:nvSpPr>
        <p:spPr>
          <a:xfrm>
            <a:off x="5228926" y="2839641"/>
            <a:ext cx="1728192" cy="1523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.</a:t>
            </a:r>
          </a:p>
          <a:p>
            <a:pPr algn="ctr"/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D824314-8612-F086-4A7B-C2F63D262BDD}"/>
              </a:ext>
            </a:extLst>
          </p:cNvPr>
          <p:cNvSpPr/>
          <p:nvPr/>
        </p:nvSpPr>
        <p:spPr>
          <a:xfrm>
            <a:off x="5228926" y="4363418"/>
            <a:ext cx="1728192" cy="427866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file PKL #6</a:t>
            </a:r>
            <a:endParaRPr lang="ru-RU" dirty="0"/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DAC13416-C8E2-949D-E786-1A7FA5AF5CA3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2288218" y="3552894"/>
            <a:ext cx="479977" cy="1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C747CC8F-3113-A053-996E-EBAF64373F35}"/>
              </a:ext>
            </a:extLst>
          </p:cNvPr>
          <p:cNvCxnSpPr>
            <a:stCxn id="5" idx="3"/>
            <a:endCxn id="8" idx="1"/>
          </p:cNvCxnSpPr>
          <p:nvPr/>
        </p:nvCxnSpPr>
        <p:spPr>
          <a:xfrm flipV="1">
            <a:off x="4496387" y="2530861"/>
            <a:ext cx="732539" cy="1022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0F698360-CA7A-21DA-8196-A4129661EF47}"/>
              </a:ext>
            </a:extLst>
          </p:cNvPr>
          <p:cNvCxnSpPr>
            <a:stCxn id="5" idx="3"/>
            <a:endCxn id="12" idx="1"/>
          </p:cNvCxnSpPr>
          <p:nvPr/>
        </p:nvCxnSpPr>
        <p:spPr>
          <a:xfrm>
            <a:off x="4496387" y="3552894"/>
            <a:ext cx="732539" cy="1024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AC8ED0F4-59F1-4C1F-84EC-288DF924285C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6957118" y="2530861"/>
            <a:ext cx="732541" cy="1021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77FA6D01-BE06-0E19-955A-F723A6B88D6E}"/>
              </a:ext>
            </a:extLst>
          </p:cNvPr>
          <p:cNvCxnSpPr>
            <a:cxnSpLocks/>
            <a:stCxn id="12" idx="3"/>
            <a:endCxn id="6" idx="1"/>
          </p:cNvCxnSpPr>
          <p:nvPr/>
        </p:nvCxnSpPr>
        <p:spPr>
          <a:xfrm flipV="1">
            <a:off x="6957118" y="3552270"/>
            <a:ext cx="732541" cy="1025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BE81E085-FDB7-A43B-B821-6A4166198F35}"/>
              </a:ext>
            </a:extLst>
          </p:cNvPr>
          <p:cNvSpPr/>
          <p:nvPr/>
        </p:nvSpPr>
        <p:spPr>
          <a:xfrm>
            <a:off x="5228926" y="3329098"/>
            <a:ext cx="1728192" cy="427866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file PKL #N</a:t>
            </a:r>
            <a:endParaRPr lang="ru-RU" dirty="0"/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BF619BF8-489F-AFD5-76E8-C5A596E4C2EE}"/>
              </a:ext>
            </a:extLst>
          </p:cNvPr>
          <p:cNvCxnSpPr>
            <a:cxnSpLocks/>
            <a:stCxn id="5" idx="3"/>
            <a:endCxn id="36" idx="1"/>
          </p:cNvCxnSpPr>
          <p:nvPr/>
        </p:nvCxnSpPr>
        <p:spPr>
          <a:xfrm flipV="1">
            <a:off x="4496387" y="3543031"/>
            <a:ext cx="732539" cy="9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7DBB040D-82F4-5543-578E-415786486A05}"/>
              </a:ext>
            </a:extLst>
          </p:cNvPr>
          <p:cNvCxnSpPr>
            <a:cxnSpLocks/>
            <a:stCxn id="36" idx="3"/>
            <a:endCxn id="6" idx="1"/>
          </p:cNvCxnSpPr>
          <p:nvPr/>
        </p:nvCxnSpPr>
        <p:spPr>
          <a:xfrm>
            <a:off x="6957118" y="3543031"/>
            <a:ext cx="732541" cy="9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 стрелкой 53">
            <a:extLst>
              <a:ext uri="{FF2B5EF4-FFF2-40B4-BE49-F238E27FC236}">
                <a16:creationId xmlns:a16="http://schemas.microsoft.com/office/drawing/2014/main" id="{391C3575-8359-68FA-7B00-792027B191BC}"/>
              </a:ext>
            </a:extLst>
          </p:cNvPr>
          <p:cNvCxnSpPr>
            <a:cxnSpLocks/>
          </p:cNvCxnSpPr>
          <p:nvPr/>
        </p:nvCxnSpPr>
        <p:spPr>
          <a:xfrm>
            <a:off x="9417851" y="3336310"/>
            <a:ext cx="5252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Прямоугольник: скругленные углы 57">
            <a:extLst>
              <a:ext uri="{FF2B5EF4-FFF2-40B4-BE49-F238E27FC236}">
                <a16:creationId xmlns:a16="http://schemas.microsoft.com/office/drawing/2014/main" id="{CEA7C51D-0F04-D5AB-315A-36AA528524E5}"/>
              </a:ext>
            </a:extLst>
          </p:cNvPr>
          <p:cNvSpPr/>
          <p:nvPr/>
        </p:nvSpPr>
        <p:spPr>
          <a:xfrm>
            <a:off x="7689658" y="5755871"/>
            <a:ext cx="4025184" cy="719347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rag_deploy.py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9" name="Прямоугольник: скругленные углы 58">
            <a:extLst>
              <a:ext uri="{FF2B5EF4-FFF2-40B4-BE49-F238E27FC236}">
                <a16:creationId xmlns:a16="http://schemas.microsoft.com/office/drawing/2014/main" id="{7F39D5B8-E29D-8420-EAE1-432B0B299788}"/>
              </a:ext>
            </a:extLst>
          </p:cNvPr>
          <p:cNvSpPr/>
          <p:nvPr/>
        </p:nvSpPr>
        <p:spPr>
          <a:xfrm>
            <a:off x="5228926" y="5755871"/>
            <a:ext cx="1728192" cy="719347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files *.</a:t>
            </a:r>
            <a:r>
              <a:rPr lang="en-US" dirty="0" err="1">
                <a:solidFill>
                  <a:schemeClr val="tx1"/>
                </a:solidFill>
              </a:rPr>
              <a:t>pkl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65" name="Прямая со стрелкой 64">
            <a:extLst>
              <a:ext uri="{FF2B5EF4-FFF2-40B4-BE49-F238E27FC236}">
                <a16:creationId xmlns:a16="http://schemas.microsoft.com/office/drawing/2014/main" id="{A8D1C7C1-BF1D-1063-4C1C-CEE4E4B0A3D2}"/>
              </a:ext>
            </a:extLst>
          </p:cNvPr>
          <p:cNvCxnSpPr>
            <a:cxnSpLocks/>
            <a:endCxn id="59" idx="1"/>
          </p:cNvCxnSpPr>
          <p:nvPr/>
        </p:nvCxnSpPr>
        <p:spPr>
          <a:xfrm>
            <a:off x="4496386" y="6115545"/>
            <a:ext cx="7325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 стрелкой 66">
            <a:extLst>
              <a:ext uri="{FF2B5EF4-FFF2-40B4-BE49-F238E27FC236}">
                <a16:creationId xmlns:a16="http://schemas.microsoft.com/office/drawing/2014/main" id="{9E7A30F9-CB96-6CDB-9A36-46DB1FBA7606}"/>
              </a:ext>
            </a:extLst>
          </p:cNvPr>
          <p:cNvCxnSpPr>
            <a:cxnSpLocks/>
            <a:stCxn id="59" idx="3"/>
            <a:endCxn id="58" idx="1"/>
          </p:cNvCxnSpPr>
          <p:nvPr/>
        </p:nvCxnSpPr>
        <p:spPr>
          <a:xfrm>
            <a:off x="6957118" y="6115545"/>
            <a:ext cx="7325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Прямоугольник: скругленные углы 70">
            <a:extLst>
              <a:ext uri="{FF2B5EF4-FFF2-40B4-BE49-F238E27FC236}">
                <a16:creationId xmlns:a16="http://schemas.microsoft.com/office/drawing/2014/main" id="{0E9FD3D9-14CA-CC59-52E9-54A44F14B697}"/>
              </a:ext>
            </a:extLst>
          </p:cNvPr>
          <p:cNvSpPr/>
          <p:nvPr/>
        </p:nvSpPr>
        <p:spPr>
          <a:xfrm>
            <a:off x="9943126" y="4477771"/>
            <a:ext cx="1771718" cy="892659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user input/output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73" name="Прямая со стрелкой 72">
            <a:extLst>
              <a:ext uri="{FF2B5EF4-FFF2-40B4-BE49-F238E27FC236}">
                <a16:creationId xmlns:a16="http://schemas.microsoft.com/office/drawing/2014/main" id="{11A61E0A-77AF-49A3-0B1A-5757FCE6B6D1}"/>
              </a:ext>
            </a:extLst>
          </p:cNvPr>
          <p:cNvCxnSpPr>
            <a:cxnSpLocks/>
          </p:cNvCxnSpPr>
          <p:nvPr/>
        </p:nvCxnSpPr>
        <p:spPr>
          <a:xfrm flipV="1">
            <a:off x="10548251" y="4092330"/>
            <a:ext cx="0" cy="3854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>
            <a:extLst>
              <a:ext uri="{FF2B5EF4-FFF2-40B4-BE49-F238E27FC236}">
                <a16:creationId xmlns:a16="http://schemas.microsoft.com/office/drawing/2014/main" id="{7E9175B5-D3E4-D602-07D7-419905FF68CE}"/>
              </a:ext>
            </a:extLst>
          </p:cNvPr>
          <p:cNvCxnSpPr>
            <a:cxnSpLocks/>
          </p:cNvCxnSpPr>
          <p:nvPr/>
        </p:nvCxnSpPr>
        <p:spPr>
          <a:xfrm>
            <a:off x="11136560" y="4092330"/>
            <a:ext cx="0" cy="3854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 стрелкой 76">
            <a:extLst>
              <a:ext uri="{FF2B5EF4-FFF2-40B4-BE49-F238E27FC236}">
                <a16:creationId xmlns:a16="http://schemas.microsoft.com/office/drawing/2014/main" id="{2CF3068D-7CF1-D138-FA41-3EF2E403CAB2}"/>
              </a:ext>
            </a:extLst>
          </p:cNvPr>
          <p:cNvCxnSpPr>
            <a:cxnSpLocks/>
          </p:cNvCxnSpPr>
          <p:nvPr/>
        </p:nvCxnSpPr>
        <p:spPr>
          <a:xfrm flipH="1">
            <a:off x="9417851" y="3762315"/>
            <a:ext cx="5252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Прямоугольник: скругленные углы 90">
            <a:extLst>
              <a:ext uri="{FF2B5EF4-FFF2-40B4-BE49-F238E27FC236}">
                <a16:creationId xmlns:a16="http://schemas.microsoft.com/office/drawing/2014/main" id="{AD802B91-081A-1074-C87B-1760F920C13E}"/>
              </a:ext>
            </a:extLst>
          </p:cNvPr>
          <p:cNvSpPr/>
          <p:nvPr/>
        </p:nvSpPr>
        <p:spPr>
          <a:xfrm>
            <a:off x="2768194" y="5755871"/>
            <a:ext cx="1728192" cy="719347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prepare.py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DA27D2-4D65-2F16-905E-E2C227B236FD}"/>
              </a:ext>
            </a:extLst>
          </p:cNvPr>
          <p:cNvSpPr txBox="1"/>
          <p:nvPr/>
        </p:nvSpPr>
        <p:spPr>
          <a:xfrm>
            <a:off x="481643" y="2140627"/>
            <a:ext cx="2034223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логическая схема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67A64A8F-1D96-B058-0B4B-59BF0937CFCE}"/>
              </a:ext>
            </a:extLst>
          </p:cNvPr>
          <p:cNvSpPr/>
          <p:nvPr/>
        </p:nvSpPr>
        <p:spPr>
          <a:xfrm>
            <a:off x="7968208" y="1343152"/>
            <a:ext cx="1084694" cy="1068629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838792-0380-94CA-657F-A7F934F940DB}"/>
              </a:ext>
            </a:extLst>
          </p:cNvPr>
          <p:cNvSpPr txBox="1"/>
          <p:nvPr/>
        </p:nvSpPr>
        <p:spPr>
          <a:xfrm>
            <a:off x="7968208" y="1514508"/>
            <a:ext cx="1084694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0">
              <a:defRPr/>
            </a:pPr>
            <a:r>
              <a:rPr lang="en-US" kern="1200" dirty="0">
                <a:cs typeface="SB Sans Display" panose="020B0503040504020204" pitchFamily="34" charset="0"/>
              </a:rPr>
              <a:t>gpt4o </a:t>
            </a:r>
            <a:r>
              <a:rPr lang="en-US" dirty="0"/>
              <a:t>inference</a:t>
            </a:r>
            <a:endParaRPr kumimoji="0" lang="ru-RU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SB Sans Display" panose="020B0503040504020204" pitchFamily="34" charset="0"/>
            </a:endParaRP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DADFA649-447A-6621-74A5-EB5E4B2E2081}"/>
              </a:ext>
            </a:extLst>
          </p:cNvPr>
          <p:cNvCxnSpPr>
            <a:cxnSpLocks/>
            <a:endCxn id="11" idx="3"/>
          </p:cNvCxnSpPr>
          <p:nvPr/>
        </p:nvCxnSpPr>
        <p:spPr>
          <a:xfrm flipV="1">
            <a:off x="8127058" y="2255284"/>
            <a:ext cx="0" cy="730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A4F65419-9D9E-CAB8-586C-8F55FA75288C}"/>
              </a:ext>
            </a:extLst>
          </p:cNvPr>
          <p:cNvCxnSpPr>
            <a:cxnSpLocks/>
            <a:stCxn id="11" idx="5"/>
          </p:cNvCxnSpPr>
          <p:nvPr/>
        </p:nvCxnSpPr>
        <p:spPr>
          <a:xfrm>
            <a:off x="8894052" y="2255284"/>
            <a:ext cx="0" cy="730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AB067829-B6D8-D476-8D0C-14EFB09AAFBA}"/>
              </a:ext>
            </a:extLst>
          </p:cNvPr>
          <p:cNvCxnSpPr>
            <a:cxnSpLocks/>
          </p:cNvCxnSpPr>
          <p:nvPr/>
        </p:nvCxnSpPr>
        <p:spPr>
          <a:xfrm>
            <a:off x="560026" y="5582622"/>
            <a:ext cx="5430180" cy="0"/>
          </a:xfrm>
          <a:prstGeom prst="straightConnector1">
            <a:avLst/>
          </a:prstGeom>
          <a:ln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4161C5F-5780-1A3B-573E-75138AD1423E}"/>
              </a:ext>
            </a:extLst>
          </p:cNvPr>
          <p:cNvSpPr txBox="1"/>
          <p:nvPr/>
        </p:nvSpPr>
        <p:spPr>
          <a:xfrm>
            <a:off x="3457208" y="5115821"/>
            <a:ext cx="1771718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~</a:t>
            </a: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30-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40 min</a:t>
            </a: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  <a:cs typeface="SB Sans Display" panose="020B0503040504020204" pitchFamily="34" charset="0"/>
            </a:endParaRPr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F4FBAED9-F120-4295-4E00-4EC6512F7692}"/>
              </a:ext>
            </a:extLst>
          </p:cNvPr>
          <p:cNvCxnSpPr>
            <a:cxnSpLocks/>
          </p:cNvCxnSpPr>
          <p:nvPr/>
        </p:nvCxnSpPr>
        <p:spPr>
          <a:xfrm flipV="1">
            <a:off x="5990206" y="5536815"/>
            <a:ext cx="5724636" cy="43423"/>
          </a:xfrm>
          <a:prstGeom prst="straightConnector1">
            <a:avLst/>
          </a:prstGeom>
          <a:ln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D5072EF-CF9D-D179-47EE-D3FE33B86267}"/>
              </a:ext>
            </a:extLst>
          </p:cNvPr>
          <p:cNvSpPr txBox="1"/>
          <p:nvPr/>
        </p:nvSpPr>
        <p:spPr>
          <a:xfrm>
            <a:off x="7842134" y="5115821"/>
            <a:ext cx="133684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~</a:t>
            </a: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3-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8</a:t>
            </a: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sec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341BD4-B98F-12C0-3BA7-21A26F3CF309}"/>
              </a:ext>
            </a:extLst>
          </p:cNvPr>
          <p:cNvSpPr txBox="1"/>
          <p:nvPr/>
        </p:nvSpPr>
        <p:spPr>
          <a:xfrm>
            <a:off x="11537313" y="6436768"/>
            <a:ext cx="5040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kern="1200" dirty="0">
                <a:cs typeface="SB Sans Display" panose="020B0503040504020204" pitchFamily="34" charset="0"/>
              </a:rPr>
              <a:t>4</a:t>
            </a:r>
            <a:endParaRPr lang="ru-RU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0AE829-5921-CCB1-B051-7B7FA6C52624}"/>
              </a:ext>
            </a:extLst>
          </p:cNvPr>
          <p:cNvSpPr txBox="1"/>
          <p:nvPr/>
        </p:nvSpPr>
        <p:spPr>
          <a:xfrm>
            <a:off x="477156" y="5018602"/>
            <a:ext cx="2646843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используемые файлы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BAD62049-3BB2-B0B0-13F4-F30AAA764BE0}"/>
              </a:ext>
            </a:extLst>
          </p:cNvPr>
          <p:cNvSpPr/>
          <p:nvPr/>
        </p:nvSpPr>
        <p:spPr>
          <a:xfrm>
            <a:off x="560026" y="5755871"/>
            <a:ext cx="1728192" cy="719347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Sber2023.pdf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10D34721-D39B-8776-2D61-5F046319F643}"/>
              </a:ext>
            </a:extLst>
          </p:cNvPr>
          <p:cNvCxnSpPr>
            <a:cxnSpLocks/>
            <a:stCxn id="30" idx="3"/>
            <a:endCxn id="91" idx="1"/>
          </p:cNvCxnSpPr>
          <p:nvPr/>
        </p:nvCxnSpPr>
        <p:spPr>
          <a:xfrm>
            <a:off x="2288218" y="6115545"/>
            <a:ext cx="4799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7672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6FD2EC-6E43-3962-ACED-6CF2763C7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164;g2cf6a24b2c0_0_2">
            <a:extLst>
              <a:ext uri="{FF2B5EF4-FFF2-40B4-BE49-F238E27FC236}">
                <a16:creationId xmlns:a16="http://schemas.microsoft.com/office/drawing/2014/main" id="{E600552E-570F-CB10-8DBA-3B44ADA3E80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79" b="179"/>
          <a:stretch/>
        </p:blipFill>
        <p:spPr>
          <a:xfrm>
            <a:off x="1075" y="0"/>
            <a:ext cx="12189848" cy="78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166;g2cf6a24b2c0_0_2">
            <a:extLst>
              <a:ext uri="{FF2B5EF4-FFF2-40B4-BE49-F238E27FC236}">
                <a16:creationId xmlns:a16="http://schemas.microsoft.com/office/drawing/2014/main" id="{905D4F84-9038-E7D5-06FE-17D7259A5F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009" b="1009"/>
          <a:stretch/>
        </p:blipFill>
        <p:spPr>
          <a:xfrm>
            <a:off x="9288250" y="272044"/>
            <a:ext cx="2520003" cy="22303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E4003D5-D321-C497-7E6B-243CA70FE003}"/>
              </a:ext>
            </a:extLst>
          </p:cNvPr>
          <p:cNvSpPr txBox="1"/>
          <p:nvPr/>
        </p:nvSpPr>
        <p:spPr>
          <a:xfrm>
            <a:off x="461377" y="1700808"/>
            <a:ext cx="8092378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Предварительная подготовка данных</a:t>
            </a:r>
          </a:p>
        </p:txBody>
      </p:sp>
      <p:sp>
        <p:nvSpPr>
          <p:cNvPr id="2" name="Google Shape;163;g2cf6a24b2c0_0_2">
            <a:extLst>
              <a:ext uri="{FF2B5EF4-FFF2-40B4-BE49-F238E27FC236}">
                <a16:creationId xmlns:a16="http://schemas.microsoft.com/office/drawing/2014/main" id="{3AB4A04A-0DAD-6A09-B728-74BE37895AC0}"/>
              </a:ext>
            </a:extLst>
          </p:cNvPr>
          <p:cNvSpPr txBox="1"/>
          <p:nvPr/>
        </p:nvSpPr>
        <p:spPr>
          <a:xfrm>
            <a:off x="461377" y="891207"/>
            <a:ext cx="11346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wrap="square" lIns="0" tIns="0" rIns="0" bIns="0" anchor="t" anchorCtr="0">
            <a:spAutoFit/>
          </a:bodyPr>
          <a:lstStyle/>
          <a:p>
            <a:pPr lvl="0" rtl="0">
              <a:buClr>
                <a:srgbClr val="000000"/>
              </a:buClr>
              <a:buSzPts val="3600"/>
            </a:pP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Мультимодальная </a:t>
            </a:r>
            <a:r>
              <a:rPr lang="en-US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RAG-</a:t>
            </a: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система</a:t>
            </a:r>
            <a:endParaRPr lang="en-US" sz="2800" dirty="0">
              <a:solidFill>
                <a:srgbClr val="082326"/>
              </a:solidFill>
              <a:latin typeface="Montserrat ExtraBold"/>
              <a:ea typeface="Montserrat ExtraBold"/>
              <a:cs typeface="Montserrat ExtraBold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89EDF40C-89C5-DFAA-D156-F776C5B29222}"/>
              </a:ext>
            </a:extLst>
          </p:cNvPr>
          <p:cNvSpPr/>
          <p:nvPr/>
        </p:nvSpPr>
        <p:spPr>
          <a:xfrm>
            <a:off x="560026" y="3002153"/>
            <a:ext cx="1728192" cy="108012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PDF</a:t>
            </a:r>
            <a:r>
              <a:rPr lang="ru-RU" dirty="0"/>
              <a:t> </a:t>
            </a:r>
            <a:r>
              <a:rPr lang="en-US" dirty="0"/>
              <a:t>file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373DCF4-8D5A-07D4-F117-A1DBBF9FC0AB}"/>
              </a:ext>
            </a:extLst>
          </p:cNvPr>
          <p:cNvSpPr/>
          <p:nvPr/>
        </p:nvSpPr>
        <p:spPr>
          <a:xfrm>
            <a:off x="9768407" y="2659475"/>
            <a:ext cx="1975719" cy="24451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/>
              <a:t>texts PKL #1</a:t>
            </a:r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D59040F-2E27-30CC-B1EF-97383259B3AE}"/>
              </a:ext>
            </a:extLst>
          </p:cNvPr>
          <p:cNvSpPr/>
          <p:nvPr/>
        </p:nvSpPr>
        <p:spPr>
          <a:xfrm>
            <a:off x="9768408" y="4185477"/>
            <a:ext cx="1987853" cy="244800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/>
              <a:t>images PKL #5</a:t>
            </a:r>
            <a:endParaRPr lang="ru-RU" dirty="0"/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74EE47B2-5567-E970-3AF4-C7D3B78FFA3F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>
          <a:xfrm>
            <a:off x="2288218" y="3542213"/>
            <a:ext cx="916598" cy="18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370F0E21-3503-AEC1-1409-A3C53BCFD7AC}"/>
              </a:ext>
            </a:extLst>
          </p:cNvPr>
          <p:cNvSpPr/>
          <p:nvPr/>
        </p:nvSpPr>
        <p:spPr>
          <a:xfrm>
            <a:off x="9768408" y="3429000"/>
            <a:ext cx="1975719" cy="244800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/>
              <a:t>tables PKL #3</a:t>
            </a:r>
            <a:endParaRPr lang="ru-RU" dirty="0"/>
          </a:p>
        </p:txBody>
      </p:sp>
      <p:sp>
        <p:nvSpPr>
          <p:cNvPr id="59" name="Прямоугольник: скругленные углы 58">
            <a:extLst>
              <a:ext uri="{FF2B5EF4-FFF2-40B4-BE49-F238E27FC236}">
                <a16:creationId xmlns:a16="http://schemas.microsoft.com/office/drawing/2014/main" id="{59B9C088-F7F3-4F6C-D367-A7C36848E165}"/>
              </a:ext>
            </a:extLst>
          </p:cNvPr>
          <p:cNvSpPr/>
          <p:nvPr/>
        </p:nvSpPr>
        <p:spPr>
          <a:xfrm>
            <a:off x="9780542" y="5755871"/>
            <a:ext cx="1975719" cy="719347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files *.</a:t>
            </a:r>
            <a:r>
              <a:rPr lang="en-US" dirty="0" err="1">
                <a:solidFill>
                  <a:schemeClr val="tx1"/>
                </a:solidFill>
              </a:rPr>
              <a:t>pkl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65" name="Прямая со стрелкой 64">
            <a:extLst>
              <a:ext uri="{FF2B5EF4-FFF2-40B4-BE49-F238E27FC236}">
                <a16:creationId xmlns:a16="http://schemas.microsoft.com/office/drawing/2014/main" id="{2FD95AF3-49BD-5E99-0BE8-5B4EEBF7835F}"/>
              </a:ext>
            </a:extLst>
          </p:cNvPr>
          <p:cNvCxnSpPr>
            <a:cxnSpLocks/>
            <a:stCxn id="10" idx="3"/>
            <a:endCxn id="59" idx="1"/>
          </p:cNvCxnSpPr>
          <p:nvPr/>
        </p:nvCxnSpPr>
        <p:spPr>
          <a:xfrm>
            <a:off x="7474556" y="6115545"/>
            <a:ext cx="2305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58B8D16-D8B6-E0E3-2833-A932D85B6684}"/>
              </a:ext>
            </a:extLst>
          </p:cNvPr>
          <p:cNvSpPr/>
          <p:nvPr/>
        </p:nvSpPr>
        <p:spPr>
          <a:xfrm>
            <a:off x="3220916" y="2607615"/>
            <a:ext cx="1728192" cy="427866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extract texts</a:t>
            </a:r>
            <a:endParaRPr lang="ru-RU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15550DE-A7A3-489E-9FF2-401FE75A4307}"/>
              </a:ext>
            </a:extLst>
          </p:cNvPr>
          <p:cNvSpPr/>
          <p:nvPr/>
        </p:nvSpPr>
        <p:spPr>
          <a:xfrm>
            <a:off x="3204816" y="3346717"/>
            <a:ext cx="1728192" cy="427866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extract tables</a:t>
            </a:r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A5EEF98-3162-1696-0DE0-EE614F20C8D8}"/>
              </a:ext>
            </a:extLst>
          </p:cNvPr>
          <p:cNvSpPr/>
          <p:nvPr/>
        </p:nvSpPr>
        <p:spPr>
          <a:xfrm>
            <a:off x="3217877" y="4085657"/>
            <a:ext cx="1728192" cy="427866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extract images</a:t>
            </a:r>
            <a:endParaRPr lang="ru-RU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D1A0292-ECC0-EC55-19E8-B8D71ECE4EEB}"/>
              </a:ext>
            </a:extLst>
          </p:cNvPr>
          <p:cNvSpPr/>
          <p:nvPr/>
        </p:nvSpPr>
        <p:spPr>
          <a:xfrm>
            <a:off x="5746365" y="3713928"/>
            <a:ext cx="1728192" cy="427866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chunking</a:t>
            </a:r>
            <a:endParaRPr lang="ru-RU" dirty="0"/>
          </a:p>
        </p:txBody>
      </p: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26808DD1-6A85-2071-66A3-73B8CC7CA190}"/>
              </a:ext>
            </a:extLst>
          </p:cNvPr>
          <p:cNvCxnSpPr>
            <a:cxnSpLocks/>
            <a:stCxn id="18" idx="3"/>
            <a:endCxn id="36" idx="1"/>
          </p:cNvCxnSpPr>
          <p:nvPr/>
        </p:nvCxnSpPr>
        <p:spPr>
          <a:xfrm flipV="1">
            <a:off x="4933008" y="3551400"/>
            <a:ext cx="4835400" cy="9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03AB524A-1311-B59B-BC71-8F813E88B8CF}"/>
              </a:ext>
            </a:extLst>
          </p:cNvPr>
          <p:cNvCxnSpPr>
            <a:cxnSpLocks/>
            <a:stCxn id="20" idx="3"/>
            <a:endCxn id="12" idx="1"/>
          </p:cNvCxnSpPr>
          <p:nvPr/>
        </p:nvCxnSpPr>
        <p:spPr>
          <a:xfrm>
            <a:off x="4946069" y="4299590"/>
            <a:ext cx="4822339" cy="8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6D3B62E7-FED1-C0B9-AB0E-C0A000C54759}"/>
              </a:ext>
            </a:extLst>
          </p:cNvPr>
          <p:cNvCxnSpPr>
            <a:cxnSpLocks/>
            <a:stCxn id="17" idx="3"/>
            <a:endCxn id="182" idx="1"/>
          </p:cNvCxnSpPr>
          <p:nvPr/>
        </p:nvCxnSpPr>
        <p:spPr>
          <a:xfrm flipV="1">
            <a:off x="4949108" y="2819563"/>
            <a:ext cx="797257" cy="1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Овал 45">
            <a:extLst>
              <a:ext uri="{FF2B5EF4-FFF2-40B4-BE49-F238E27FC236}">
                <a16:creationId xmlns:a16="http://schemas.microsoft.com/office/drawing/2014/main" id="{307B9750-89D9-4F17-BCA3-7F6F22FE957C}"/>
              </a:ext>
            </a:extLst>
          </p:cNvPr>
          <p:cNvSpPr/>
          <p:nvPr/>
        </p:nvSpPr>
        <p:spPr>
          <a:xfrm>
            <a:off x="6068114" y="4512502"/>
            <a:ext cx="1084694" cy="1068629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90DAD8D4-F31E-A458-F953-6B4DBADBA563}"/>
              </a:ext>
            </a:extLst>
          </p:cNvPr>
          <p:cNvCxnSpPr>
            <a:cxnSpLocks/>
            <a:stCxn id="22" idx="2"/>
            <a:endCxn id="46" idx="0"/>
          </p:cNvCxnSpPr>
          <p:nvPr/>
        </p:nvCxnSpPr>
        <p:spPr>
          <a:xfrm>
            <a:off x="6610461" y="4141794"/>
            <a:ext cx="0" cy="370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3851A9D-2808-3C77-4CAD-ADA04CB59C71}"/>
              </a:ext>
            </a:extLst>
          </p:cNvPr>
          <p:cNvSpPr txBox="1"/>
          <p:nvPr/>
        </p:nvSpPr>
        <p:spPr>
          <a:xfrm>
            <a:off x="6053693" y="4795201"/>
            <a:ext cx="1084694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0">
              <a:defRPr/>
            </a:pPr>
            <a:r>
              <a:rPr lang="en-US" kern="1200" dirty="0">
                <a:cs typeface="SB Sans Display" panose="020B0503040504020204" pitchFamily="34" charset="0"/>
              </a:rPr>
              <a:t>gpt4o </a:t>
            </a:r>
            <a:r>
              <a:rPr lang="en-US" dirty="0"/>
              <a:t>summary</a:t>
            </a:r>
            <a:endParaRPr kumimoji="0" lang="ru-RU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SB Sans Display" panose="020B0503040504020204" pitchFamily="34" charset="0"/>
            </a:endParaRPr>
          </a:p>
        </p:txBody>
      </p: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5D7E822D-3927-DAB6-04B7-87CAC0DC41CA}"/>
              </a:ext>
            </a:extLst>
          </p:cNvPr>
          <p:cNvCxnSpPr>
            <a:cxnSpLocks/>
            <a:stCxn id="18" idx="3"/>
            <a:endCxn id="46" idx="1"/>
          </p:cNvCxnSpPr>
          <p:nvPr/>
        </p:nvCxnSpPr>
        <p:spPr>
          <a:xfrm>
            <a:off x="4933008" y="3560650"/>
            <a:ext cx="1293956" cy="1108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 стрелкой 55">
            <a:extLst>
              <a:ext uri="{FF2B5EF4-FFF2-40B4-BE49-F238E27FC236}">
                <a16:creationId xmlns:a16="http://schemas.microsoft.com/office/drawing/2014/main" id="{9487EBE0-EFAE-AB50-AF1A-C3E4FF0902E0}"/>
              </a:ext>
            </a:extLst>
          </p:cNvPr>
          <p:cNvCxnSpPr>
            <a:cxnSpLocks/>
            <a:stCxn id="20" idx="3"/>
            <a:endCxn id="46" idx="2"/>
          </p:cNvCxnSpPr>
          <p:nvPr/>
        </p:nvCxnSpPr>
        <p:spPr>
          <a:xfrm>
            <a:off x="4946069" y="4299590"/>
            <a:ext cx="1122045" cy="747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Прямая со стрелкой 85">
            <a:extLst>
              <a:ext uri="{FF2B5EF4-FFF2-40B4-BE49-F238E27FC236}">
                <a16:creationId xmlns:a16="http://schemas.microsoft.com/office/drawing/2014/main" id="{A387070A-B253-C009-E93F-D73DB436F379}"/>
              </a:ext>
            </a:extLst>
          </p:cNvPr>
          <p:cNvCxnSpPr>
            <a:cxnSpLocks/>
            <a:stCxn id="4" idx="3"/>
            <a:endCxn id="17" idx="1"/>
          </p:cNvCxnSpPr>
          <p:nvPr/>
        </p:nvCxnSpPr>
        <p:spPr>
          <a:xfrm flipV="1">
            <a:off x="2288218" y="2821548"/>
            <a:ext cx="932698" cy="720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Прямая со стрелкой 88">
            <a:extLst>
              <a:ext uri="{FF2B5EF4-FFF2-40B4-BE49-F238E27FC236}">
                <a16:creationId xmlns:a16="http://schemas.microsoft.com/office/drawing/2014/main" id="{52EE3F6B-F3C2-A829-6DF0-C9154F29D8EA}"/>
              </a:ext>
            </a:extLst>
          </p:cNvPr>
          <p:cNvCxnSpPr>
            <a:cxnSpLocks/>
            <a:stCxn id="4" idx="3"/>
            <a:endCxn id="20" idx="1"/>
          </p:cNvCxnSpPr>
          <p:nvPr/>
        </p:nvCxnSpPr>
        <p:spPr>
          <a:xfrm>
            <a:off x="2288218" y="3542213"/>
            <a:ext cx="929659" cy="757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1A603D89-B5E4-4135-0769-FCA2453570E2}"/>
              </a:ext>
            </a:extLst>
          </p:cNvPr>
          <p:cNvSpPr/>
          <p:nvPr/>
        </p:nvSpPr>
        <p:spPr>
          <a:xfrm>
            <a:off x="9768408" y="3052403"/>
            <a:ext cx="1975719" cy="24451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/>
              <a:t>sum texts PKL #2</a:t>
            </a:r>
            <a:endParaRPr lang="ru-RU" dirty="0"/>
          </a:p>
        </p:txBody>
      </p:sp>
      <p:cxnSp>
        <p:nvCxnSpPr>
          <p:cNvPr id="104" name="Прямая со стрелкой 103">
            <a:extLst>
              <a:ext uri="{FF2B5EF4-FFF2-40B4-BE49-F238E27FC236}">
                <a16:creationId xmlns:a16="http://schemas.microsoft.com/office/drawing/2014/main" id="{53904AF1-260E-72B1-5D83-58A901234626}"/>
              </a:ext>
            </a:extLst>
          </p:cNvPr>
          <p:cNvCxnSpPr>
            <a:cxnSpLocks/>
            <a:stCxn id="46" idx="7"/>
            <a:endCxn id="103" idx="1"/>
          </p:cNvCxnSpPr>
          <p:nvPr/>
        </p:nvCxnSpPr>
        <p:spPr>
          <a:xfrm flipV="1">
            <a:off x="6993958" y="3174662"/>
            <a:ext cx="2774450" cy="1494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79F70A9F-2DFF-E2B1-7495-442D0420D684}"/>
              </a:ext>
            </a:extLst>
          </p:cNvPr>
          <p:cNvSpPr/>
          <p:nvPr/>
        </p:nvSpPr>
        <p:spPr>
          <a:xfrm>
            <a:off x="9768408" y="3800560"/>
            <a:ext cx="1987853" cy="24451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/>
              <a:t>sum tables PKL #4</a:t>
            </a:r>
            <a:endParaRPr lang="ru-RU" dirty="0"/>
          </a:p>
        </p:txBody>
      </p:sp>
      <p:cxnSp>
        <p:nvCxnSpPr>
          <p:cNvPr id="108" name="Прямая со стрелкой 107">
            <a:extLst>
              <a:ext uri="{FF2B5EF4-FFF2-40B4-BE49-F238E27FC236}">
                <a16:creationId xmlns:a16="http://schemas.microsoft.com/office/drawing/2014/main" id="{107EEAC9-76D4-3655-AB8A-21A95162E380}"/>
              </a:ext>
            </a:extLst>
          </p:cNvPr>
          <p:cNvCxnSpPr>
            <a:cxnSpLocks/>
            <a:stCxn id="46" idx="6"/>
            <a:endCxn id="107" idx="1"/>
          </p:cNvCxnSpPr>
          <p:nvPr/>
        </p:nvCxnSpPr>
        <p:spPr>
          <a:xfrm flipV="1">
            <a:off x="7152808" y="3922819"/>
            <a:ext cx="2615600" cy="1123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C1224D41-29B7-D63D-6D21-F3F688A6BE47}"/>
              </a:ext>
            </a:extLst>
          </p:cNvPr>
          <p:cNvSpPr/>
          <p:nvPr/>
        </p:nvSpPr>
        <p:spPr>
          <a:xfrm>
            <a:off x="9768408" y="4549035"/>
            <a:ext cx="1987853" cy="244800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/>
              <a:t>sum images PKL #6</a:t>
            </a:r>
            <a:endParaRPr lang="ru-RU" dirty="0"/>
          </a:p>
        </p:txBody>
      </p:sp>
      <p:cxnSp>
        <p:nvCxnSpPr>
          <p:cNvPr id="124" name="Прямая со стрелкой 123">
            <a:extLst>
              <a:ext uri="{FF2B5EF4-FFF2-40B4-BE49-F238E27FC236}">
                <a16:creationId xmlns:a16="http://schemas.microsoft.com/office/drawing/2014/main" id="{D40EF673-9C3D-4422-7806-BCA2963C206F}"/>
              </a:ext>
            </a:extLst>
          </p:cNvPr>
          <p:cNvCxnSpPr>
            <a:cxnSpLocks/>
            <a:stCxn id="46" idx="5"/>
            <a:endCxn id="116" idx="1"/>
          </p:cNvCxnSpPr>
          <p:nvPr/>
        </p:nvCxnSpPr>
        <p:spPr>
          <a:xfrm flipV="1">
            <a:off x="6993958" y="4671435"/>
            <a:ext cx="2774450" cy="753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Прямая со стрелкой 170">
            <a:extLst>
              <a:ext uri="{FF2B5EF4-FFF2-40B4-BE49-F238E27FC236}">
                <a16:creationId xmlns:a16="http://schemas.microsoft.com/office/drawing/2014/main" id="{926896AA-2733-57D6-014A-214A1F4ABE16}"/>
              </a:ext>
            </a:extLst>
          </p:cNvPr>
          <p:cNvCxnSpPr>
            <a:cxnSpLocks/>
            <a:stCxn id="22" idx="3"/>
            <a:endCxn id="8" idx="1"/>
          </p:cNvCxnSpPr>
          <p:nvPr/>
        </p:nvCxnSpPr>
        <p:spPr>
          <a:xfrm flipV="1">
            <a:off x="7474557" y="2781734"/>
            <a:ext cx="2293850" cy="1146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Прямоугольник 181">
            <a:extLst>
              <a:ext uri="{FF2B5EF4-FFF2-40B4-BE49-F238E27FC236}">
                <a16:creationId xmlns:a16="http://schemas.microsoft.com/office/drawing/2014/main" id="{25E9BAF0-7676-7EE9-0CAC-F60CE19C149C}"/>
              </a:ext>
            </a:extLst>
          </p:cNvPr>
          <p:cNvSpPr/>
          <p:nvPr/>
        </p:nvSpPr>
        <p:spPr>
          <a:xfrm>
            <a:off x="5746365" y="2605630"/>
            <a:ext cx="1728192" cy="427866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join</a:t>
            </a:r>
            <a:endParaRPr lang="ru-RU" dirty="0"/>
          </a:p>
        </p:txBody>
      </p:sp>
      <p:cxnSp>
        <p:nvCxnSpPr>
          <p:cNvPr id="184" name="Прямая со стрелкой 183">
            <a:extLst>
              <a:ext uri="{FF2B5EF4-FFF2-40B4-BE49-F238E27FC236}">
                <a16:creationId xmlns:a16="http://schemas.microsoft.com/office/drawing/2014/main" id="{2FAB2ACA-853E-8ECB-D1C7-20547C4885B5}"/>
              </a:ext>
            </a:extLst>
          </p:cNvPr>
          <p:cNvCxnSpPr>
            <a:cxnSpLocks/>
            <a:stCxn id="182" idx="2"/>
            <a:endCxn id="22" idx="0"/>
          </p:cNvCxnSpPr>
          <p:nvPr/>
        </p:nvCxnSpPr>
        <p:spPr>
          <a:xfrm>
            <a:off x="6610461" y="3033496"/>
            <a:ext cx="0" cy="680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1E50B31-1554-878F-F3E5-41E70844FE2C}"/>
              </a:ext>
            </a:extLst>
          </p:cNvPr>
          <p:cNvSpPr txBox="1"/>
          <p:nvPr/>
        </p:nvSpPr>
        <p:spPr>
          <a:xfrm>
            <a:off x="481643" y="2140627"/>
            <a:ext cx="2034223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логическая схема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552F80-599F-837D-3040-7F3A5BB5FA31}"/>
              </a:ext>
            </a:extLst>
          </p:cNvPr>
          <p:cNvSpPr txBox="1"/>
          <p:nvPr/>
        </p:nvSpPr>
        <p:spPr>
          <a:xfrm>
            <a:off x="11537313" y="6436768"/>
            <a:ext cx="5040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kern="1200" dirty="0">
                <a:cs typeface="SB Sans Display" panose="020B0503040504020204" pitchFamily="34" charset="0"/>
              </a:rPr>
              <a:t>5</a:t>
            </a:r>
            <a:endParaRPr lang="ru-RU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2BE924-96C0-D62D-9FA4-4FD6AC2C0385}"/>
              </a:ext>
            </a:extLst>
          </p:cNvPr>
          <p:cNvSpPr txBox="1"/>
          <p:nvPr/>
        </p:nvSpPr>
        <p:spPr>
          <a:xfrm>
            <a:off x="477156" y="5018602"/>
            <a:ext cx="2646843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используемые файлы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513C4E9A-EC10-A9E8-BBB2-D230E7FC82A7}"/>
              </a:ext>
            </a:extLst>
          </p:cNvPr>
          <p:cNvSpPr/>
          <p:nvPr/>
        </p:nvSpPr>
        <p:spPr>
          <a:xfrm>
            <a:off x="3204816" y="5755871"/>
            <a:ext cx="4269740" cy="719347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prepare.py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C37B81B2-70D4-A019-CDEB-2A65E901D3FD}"/>
              </a:ext>
            </a:extLst>
          </p:cNvPr>
          <p:cNvSpPr/>
          <p:nvPr/>
        </p:nvSpPr>
        <p:spPr>
          <a:xfrm>
            <a:off x="560026" y="5755871"/>
            <a:ext cx="1728192" cy="719347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Sber2023.pdf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24AEF163-35E1-E694-4E3A-4406002859D5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>
            <a:off x="2288218" y="6115545"/>
            <a:ext cx="9165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2464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A255E-3EED-05A4-3635-78A261EDB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164;g2cf6a24b2c0_0_2">
            <a:extLst>
              <a:ext uri="{FF2B5EF4-FFF2-40B4-BE49-F238E27FC236}">
                <a16:creationId xmlns:a16="http://schemas.microsoft.com/office/drawing/2014/main" id="{6E99A2BC-8F8E-B3A9-7ACA-99AAA9B3863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79" b="179"/>
          <a:stretch/>
        </p:blipFill>
        <p:spPr>
          <a:xfrm>
            <a:off x="1075" y="0"/>
            <a:ext cx="12189848" cy="78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166;g2cf6a24b2c0_0_2">
            <a:extLst>
              <a:ext uri="{FF2B5EF4-FFF2-40B4-BE49-F238E27FC236}">
                <a16:creationId xmlns:a16="http://schemas.microsoft.com/office/drawing/2014/main" id="{C0EDF911-24A5-B3D0-1C69-64E3ED8D07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009" b="1009"/>
          <a:stretch/>
        </p:blipFill>
        <p:spPr>
          <a:xfrm>
            <a:off x="9288250" y="272044"/>
            <a:ext cx="2520003" cy="2230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63;g2cf6a24b2c0_0_2">
            <a:extLst>
              <a:ext uri="{FF2B5EF4-FFF2-40B4-BE49-F238E27FC236}">
                <a16:creationId xmlns:a16="http://schemas.microsoft.com/office/drawing/2014/main" id="{6361B227-47C9-F5D0-CDBB-F012AB679D23}"/>
              </a:ext>
            </a:extLst>
          </p:cNvPr>
          <p:cNvSpPr txBox="1"/>
          <p:nvPr/>
        </p:nvSpPr>
        <p:spPr>
          <a:xfrm>
            <a:off x="461377" y="891207"/>
            <a:ext cx="671474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wrap="square" lIns="0" tIns="0" rIns="0" bIns="0" anchor="t" anchorCtr="0">
            <a:spAutoFit/>
          </a:bodyPr>
          <a:lstStyle/>
          <a:p>
            <a:pPr lvl="0" rtl="0">
              <a:buClr>
                <a:srgbClr val="000000"/>
              </a:buClr>
              <a:buSzPts val="3600"/>
            </a:pP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Мультимодальная </a:t>
            </a:r>
            <a:r>
              <a:rPr lang="en-US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RAG-</a:t>
            </a: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система</a:t>
            </a:r>
            <a:endParaRPr lang="en-US" sz="2800" dirty="0">
              <a:solidFill>
                <a:srgbClr val="082326"/>
              </a:solidFill>
              <a:latin typeface="Montserrat ExtraBold"/>
              <a:ea typeface="Montserrat ExtraBold"/>
              <a:cs typeface="Montserrat Extra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FECBB4-AEC7-C97B-C28D-B0A4DE7BAA35}"/>
              </a:ext>
            </a:extLst>
          </p:cNvPr>
          <p:cNvSpPr txBox="1"/>
          <p:nvPr/>
        </p:nvSpPr>
        <p:spPr>
          <a:xfrm>
            <a:off x="461377" y="1700808"/>
            <a:ext cx="4770527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Запуск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pipeline</a:t>
            </a: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RAG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4EE9791-671E-A547-2BCE-3F34238DDCD2}"/>
              </a:ext>
            </a:extLst>
          </p:cNvPr>
          <p:cNvSpPr/>
          <p:nvPr/>
        </p:nvSpPr>
        <p:spPr>
          <a:xfrm>
            <a:off x="561600" y="2559859"/>
            <a:ext cx="1975719" cy="24451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/>
              <a:t>texts PKL #1</a:t>
            </a: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7F08BEB-DFCC-3E2D-E7C3-5BABB65D2AFE}"/>
              </a:ext>
            </a:extLst>
          </p:cNvPr>
          <p:cNvSpPr/>
          <p:nvPr/>
        </p:nvSpPr>
        <p:spPr>
          <a:xfrm>
            <a:off x="561599" y="4067823"/>
            <a:ext cx="1987853" cy="244800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/>
              <a:t>images PKL #5</a:t>
            </a:r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749EACB-C2BD-8F67-14E8-7D5BBA562108}"/>
              </a:ext>
            </a:extLst>
          </p:cNvPr>
          <p:cNvSpPr/>
          <p:nvPr/>
        </p:nvSpPr>
        <p:spPr>
          <a:xfrm>
            <a:off x="557413" y="3314019"/>
            <a:ext cx="1975719" cy="244800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/>
              <a:t>tables PKL #3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A774C30F-D79D-AE03-7C7A-2232D4470BF8}"/>
              </a:ext>
            </a:extLst>
          </p:cNvPr>
          <p:cNvSpPr/>
          <p:nvPr/>
        </p:nvSpPr>
        <p:spPr>
          <a:xfrm>
            <a:off x="4192023" y="5756400"/>
            <a:ext cx="7520206" cy="719347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rag_deploy.py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5CF1FB7F-26E9-CB12-32F2-B9D2E8E20099}"/>
              </a:ext>
            </a:extLst>
          </p:cNvPr>
          <p:cNvSpPr/>
          <p:nvPr/>
        </p:nvSpPr>
        <p:spPr>
          <a:xfrm>
            <a:off x="561600" y="5756400"/>
            <a:ext cx="1971532" cy="719347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files *.</a:t>
            </a:r>
            <a:r>
              <a:rPr lang="en-US" dirty="0" err="1">
                <a:solidFill>
                  <a:schemeClr val="tx1"/>
                </a:solidFill>
              </a:rPr>
              <a:t>pkl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869068-23EE-7EF5-3A73-5ED27ED80CA4}"/>
              </a:ext>
            </a:extLst>
          </p:cNvPr>
          <p:cNvSpPr txBox="1"/>
          <p:nvPr/>
        </p:nvSpPr>
        <p:spPr>
          <a:xfrm>
            <a:off x="481643" y="2140627"/>
            <a:ext cx="2034223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логическая схема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21F4956-A1FD-A1A5-C459-C3CA7A79472E}"/>
              </a:ext>
            </a:extLst>
          </p:cNvPr>
          <p:cNvSpPr/>
          <p:nvPr/>
        </p:nvSpPr>
        <p:spPr>
          <a:xfrm>
            <a:off x="557413" y="2923819"/>
            <a:ext cx="1975719" cy="24451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/>
              <a:t>sum texts PKL #2</a:t>
            </a:r>
            <a:endParaRPr lang="ru-RU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1CF18A1C-5FA0-72A0-10FA-5D521F332D53}"/>
              </a:ext>
            </a:extLst>
          </p:cNvPr>
          <p:cNvSpPr/>
          <p:nvPr/>
        </p:nvSpPr>
        <p:spPr>
          <a:xfrm>
            <a:off x="557413" y="3677082"/>
            <a:ext cx="1987853" cy="24451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/>
              <a:t>sum tables PKL #4</a:t>
            </a:r>
            <a:endParaRPr lang="ru-RU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491F79C8-D051-BCE5-B06E-C83B9F6DB830}"/>
              </a:ext>
            </a:extLst>
          </p:cNvPr>
          <p:cNvSpPr/>
          <p:nvPr/>
        </p:nvSpPr>
        <p:spPr>
          <a:xfrm>
            <a:off x="561600" y="4441408"/>
            <a:ext cx="1987853" cy="244800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dirty="0"/>
              <a:t>sum images PKL #6</a:t>
            </a:r>
            <a:endParaRPr lang="ru-RU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F5EBB16-9F03-EA42-2FD6-723829AAD1C9}"/>
              </a:ext>
            </a:extLst>
          </p:cNvPr>
          <p:cNvSpPr txBox="1"/>
          <p:nvPr/>
        </p:nvSpPr>
        <p:spPr>
          <a:xfrm>
            <a:off x="477156" y="5018602"/>
            <a:ext cx="2646843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используемые файлы</a:t>
            </a:r>
          </a:p>
        </p:txBody>
      </p:sp>
      <p:sp>
        <p:nvSpPr>
          <p:cNvPr id="46" name="Блок-схема: магнитный диск 45">
            <a:extLst>
              <a:ext uri="{FF2B5EF4-FFF2-40B4-BE49-F238E27FC236}">
                <a16:creationId xmlns:a16="http://schemas.microsoft.com/office/drawing/2014/main" id="{1B34B15C-FE13-0612-4363-B93C9DE8C9D7}"/>
              </a:ext>
            </a:extLst>
          </p:cNvPr>
          <p:cNvSpPr/>
          <p:nvPr/>
        </p:nvSpPr>
        <p:spPr>
          <a:xfrm>
            <a:off x="4192023" y="2706025"/>
            <a:ext cx="1458563" cy="1419398"/>
          </a:xfrm>
          <a:prstGeom prst="flowChartMagneticDis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vectorstore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lang="ru-RU" dirty="0"/>
          </a:p>
        </p:txBody>
      </p: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3E23F7B8-F4EF-7F8F-5F42-F6A652AC244D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>
            <a:off x="2533132" y="6116074"/>
            <a:ext cx="16588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Блок-схема: несколько документов 49">
            <a:extLst>
              <a:ext uri="{FF2B5EF4-FFF2-40B4-BE49-F238E27FC236}">
                <a16:creationId xmlns:a16="http://schemas.microsoft.com/office/drawing/2014/main" id="{9931C758-ABC7-D881-F3F9-FA6AA28B2E78}"/>
              </a:ext>
            </a:extLst>
          </p:cNvPr>
          <p:cNvSpPr/>
          <p:nvPr/>
        </p:nvSpPr>
        <p:spPr>
          <a:xfrm>
            <a:off x="6745492" y="3090959"/>
            <a:ext cx="1440160" cy="1362050"/>
          </a:xfrm>
          <a:prstGeom prst="flowChartMultidocumen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Овал 50">
            <a:extLst>
              <a:ext uri="{FF2B5EF4-FFF2-40B4-BE49-F238E27FC236}">
                <a16:creationId xmlns:a16="http://schemas.microsoft.com/office/drawing/2014/main" id="{364D38FA-EC2A-76DA-FE8D-3CF66A1EF60D}"/>
              </a:ext>
            </a:extLst>
          </p:cNvPr>
          <p:cNvSpPr/>
          <p:nvPr/>
        </p:nvSpPr>
        <p:spPr>
          <a:xfrm>
            <a:off x="8522042" y="983251"/>
            <a:ext cx="1084694" cy="1068629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FD9D70D-D587-050C-1499-C0BB46424231}"/>
              </a:ext>
            </a:extLst>
          </p:cNvPr>
          <p:cNvSpPr txBox="1"/>
          <p:nvPr/>
        </p:nvSpPr>
        <p:spPr>
          <a:xfrm>
            <a:off x="8507083" y="1160942"/>
            <a:ext cx="1084694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0">
              <a:defRPr/>
            </a:pPr>
            <a:r>
              <a:rPr lang="en-US" kern="1200" dirty="0">
                <a:cs typeface="SB Sans Display" panose="020B0503040504020204" pitchFamily="34" charset="0"/>
              </a:rPr>
              <a:t>gpt4o </a:t>
            </a:r>
            <a:r>
              <a:rPr lang="en-US" dirty="0"/>
              <a:t>inference</a:t>
            </a:r>
            <a:endParaRPr kumimoji="0" lang="ru-RU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SB Sans Display" panose="020B0503040504020204" pitchFamily="34" charset="0"/>
            </a:endParaRPr>
          </a:p>
        </p:txBody>
      </p:sp>
      <p:sp>
        <p:nvSpPr>
          <p:cNvPr id="53" name="Прямоугольник: скругленные углы 52">
            <a:extLst>
              <a:ext uri="{FF2B5EF4-FFF2-40B4-BE49-F238E27FC236}">
                <a16:creationId xmlns:a16="http://schemas.microsoft.com/office/drawing/2014/main" id="{366ECDA2-8EE3-887F-3823-C4F7E8C965B0}"/>
              </a:ext>
            </a:extLst>
          </p:cNvPr>
          <p:cNvSpPr/>
          <p:nvPr/>
        </p:nvSpPr>
        <p:spPr>
          <a:xfrm>
            <a:off x="9943126" y="3092149"/>
            <a:ext cx="1771718" cy="108012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Streamlit WEB visualization</a:t>
            </a:r>
            <a:endParaRPr lang="ru-RU" dirty="0"/>
          </a:p>
        </p:txBody>
      </p:sp>
      <p:sp>
        <p:nvSpPr>
          <p:cNvPr id="54" name="Прямоугольник: скругленные углы 53">
            <a:extLst>
              <a:ext uri="{FF2B5EF4-FFF2-40B4-BE49-F238E27FC236}">
                <a16:creationId xmlns:a16="http://schemas.microsoft.com/office/drawing/2014/main" id="{9D62B160-D8B6-1423-729E-80D120C83393}"/>
              </a:ext>
            </a:extLst>
          </p:cNvPr>
          <p:cNvSpPr/>
          <p:nvPr/>
        </p:nvSpPr>
        <p:spPr>
          <a:xfrm>
            <a:off x="9943126" y="4557710"/>
            <a:ext cx="1771718" cy="929892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user request/LLM response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id="{0313C5B7-D988-8089-84FF-58C4D33B9ECA}"/>
              </a:ext>
            </a:extLst>
          </p:cNvPr>
          <p:cNvCxnSpPr>
            <a:cxnSpLocks/>
          </p:cNvCxnSpPr>
          <p:nvPr/>
        </p:nvCxnSpPr>
        <p:spPr>
          <a:xfrm flipV="1">
            <a:off x="10548251" y="4172269"/>
            <a:ext cx="0" cy="3854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 стрелкой 55">
            <a:extLst>
              <a:ext uri="{FF2B5EF4-FFF2-40B4-BE49-F238E27FC236}">
                <a16:creationId xmlns:a16="http://schemas.microsoft.com/office/drawing/2014/main" id="{21DA65EE-1CB3-E9A1-009D-B2A582CC7783}"/>
              </a:ext>
            </a:extLst>
          </p:cNvPr>
          <p:cNvCxnSpPr>
            <a:cxnSpLocks/>
          </p:cNvCxnSpPr>
          <p:nvPr/>
        </p:nvCxnSpPr>
        <p:spPr>
          <a:xfrm>
            <a:off x="11136560" y="4172269"/>
            <a:ext cx="0" cy="3854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19766FE6-9732-46BD-6A0B-4D2C8BA3FFA7}"/>
              </a:ext>
            </a:extLst>
          </p:cNvPr>
          <p:cNvSpPr txBox="1"/>
          <p:nvPr/>
        </p:nvSpPr>
        <p:spPr>
          <a:xfrm>
            <a:off x="6807711" y="3637395"/>
            <a:ext cx="1084694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0">
              <a:defRPr/>
            </a:pPr>
            <a:r>
              <a:rPr lang="en-US" kern="1200" dirty="0">
                <a:cs typeface="SB Sans Display" panose="020B0503040504020204" pitchFamily="34" charset="0"/>
              </a:rPr>
              <a:t>retriever</a:t>
            </a:r>
            <a:endParaRPr kumimoji="0" lang="ru-RU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SB Sans Display" panose="020B0503040504020204" pitchFamily="34" charset="0"/>
            </a:endParaRPr>
          </a:p>
        </p:txBody>
      </p: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457AACF3-E361-AB3B-8500-40D337033DB7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2633687" y="4361764"/>
            <a:ext cx="1558336" cy="614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8D2D3DE6-6F0F-E8F7-6D7A-952AA43C0763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>
            <a:off x="2549452" y="4190223"/>
            <a:ext cx="1642571" cy="786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65">
            <a:extLst>
              <a:ext uri="{FF2B5EF4-FFF2-40B4-BE49-F238E27FC236}">
                <a16:creationId xmlns:a16="http://schemas.microsoft.com/office/drawing/2014/main" id="{A9B6F378-5590-2B4F-32FC-CC69728E5E5D}"/>
              </a:ext>
            </a:extLst>
          </p:cNvPr>
          <p:cNvCxnSpPr>
            <a:cxnSpLocks/>
            <a:stCxn id="29" idx="3"/>
            <a:endCxn id="5" idx="1"/>
          </p:cNvCxnSpPr>
          <p:nvPr/>
        </p:nvCxnSpPr>
        <p:spPr>
          <a:xfrm>
            <a:off x="2533132" y="3046078"/>
            <a:ext cx="1658891" cy="19305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 стрелкой 66">
            <a:extLst>
              <a:ext uri="{FF2B5EF4-FFF2-40B4-BE49-F238E27FC236}">
                <a16:creationId xmlns:a16="http://schemas.microsoft.com/office/drawing/2014/main" id="{EAD0527E-FE7E-49ED-FCB0-7E89240401B4}"/>
              </a:ext>
            </a:extLst>
          </p:cNvPr>
          <p:cNvCxnSpPr>
            <a:cxnSpLocks/>
            <a:stCxn id="32" idx="3"/>
            <a:endCxn id="5" idx="1"/>
          </p:cNvCxnSpPr>
          <p:nvPr/>
        </p:nvCxnSpPr>
        <p:spPr>
          <a:xfrm>
            <a:off x="2545266" y="3799341"/>
            <a:ext cx="1646757" cy="1177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69">
            <a:extLst>
              <a:ext uri="{FF2B5EF4-FFF2-40B4-BE49-F238E27FC236}">
                <a16:creationId xmlns:a16="http://schemas.microsoft.com/office/drawing/2014/main" id="{3608EDC5-9030-5E0F-3F08-7060ABD446D8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2537319" y="2682118"/>
            <a:ext cx="1654704" cy="2294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Прямая со стрелкой 70">
            <a:extLst>
              <a:ext uri="{FF2B5EF4-FFF2-40B4-BE49-F238E27FC236}">
                <a16:creationId xmlns:a16="http://schemas.microsoft.com/office/drawing/2014/main" id="{2FAA9955-3376-474A-21A9-A9A5FFD10204}"/>
              </a:ext>
            </a:extLst>
          </p:cNvPr>
          <p:cNvCxnSpPr>
            <a:cxnSpLocks/>
          </p:cNvCxnSpPr>
          <p:nvPr/>
        </p:nvCxnSpPr>
        <p:spPr>
          <a:xfrm flipH="1" flipV="1">
            <a:off x="5650586" y="3787542"/>
            <a:ext cx="1094906" cy="493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Прямая со стрелкой 71">
            <a:extLst>
              <a:ext uri="{FF2B5EF4-FFF2-40B4-BE49-F238E27FC236}">
                <a16:creationId xmlns:a16="http://schemas.microsoft.com/office/drawing/2014/main" id="{D4D622B3-1CE7-7308-D956-6734B4CBA2DA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2617366" y="3233858"/>
            <a:ext cx="1574657" cy="1742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Прямая со стрелкой 83">
            <a:extLst>
              <a:ext uri="{FF2B5EF4-FFF2-40B4-BE49-F238E27FC236}">
                <a16:creationId xmlns:a16="http://schemas.microsoft.com/office/drawing/2014/main" id="{63872FFB-197E-899E-4B8C-9FB5B4501C9F}"/>
              </a:ext>
            </a:extLst>
          </p:cNvPr>
          <p:cNvCxnSpPr>
            <a:cxnSpLocks/>
            <a:stCxn id="51" idx="6"/>
            <a:endCxn id="53" idx="0"/>
          </p:cNvCxnSpPr>
          <p:nvPr/>
        </p:nvCxnSpPr>
        <p:spPr>
          <a:xfrm>
            <a:off x="9606736" y="1517566"/>
            <a:ext cx="1222249" cy="1574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Прямая со стрелкой 87">
            <a:extLst>
              <a:ext uri="{FF2B5EF4-FFF2-40B4-BE49-F238E27FC236}">
                <a16:creationId xmlns:a16="http://schemas.microsoft.com/office/drawing/2014/main" id="{C8AED3CF-08C2-17D4-3E7B-82C2F0B5318D}"/>
              </a:ext>
            </a:extLst>
          </p:cNvPr>
          <p:cNvCxnSpPr>
            <a:cxnSpLocks/>
          </p:cNvCxnSpPr>
          <p:nvPr/>
        </p:nvCxnSpPr>
        <p:spPr>
          <a:xfrm>
            <a:off x="5659207" y="3009090"/>
            <a:ext cx="1098804" cy="503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 стрелкой 93">
            <a:extLst>
              <a:ext uri="{FF2B5EF4-FFF2-40B4-BE49-F238E27FC236}">
                <a16:creationId xmlns:a16="http://schemas.microsoft.com/office/drawing/2014/main" id="{7E946368-EF7E-54CC-C0FE-4312B694071F}"/>
              </a:ext>
            </a:extLst>
          </p:cNvPr>
          <p:cNvCxnSpPr>
            <a:cxnSpLocks/>
            <a:stCxn id="53" idx="1"/>
          </p:cNvCxnSpPr>
          <p:nvPr/>
        </p:nvCxnSpPr>
        <p:spPr>
          <a:xfrm flipH="1">
            <a:off x="8185652" y="3632209"/>
            <a:ext cx="1757474" cy="19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F50FFC4F-786D-BD24-7C49-63CE9668C207}"/>
              </a:ext>
            </a:extLst>
          </p:cNvPr>
          <p:cNvSpPr txBox="1"/>
          <p:nvPr/>
        </p:nvSpPr>
        <p:spPr>
          <a:xfrm rot="18123256">
            <a:off x="6825109" y="2095496"/>
            <a:ext cx="203298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0">
              <a:defRPr/>
            </a:pPr>
            <a:r>
              <a:rPr lang="en-US" kern="1200" dirty="0">
                <a:cs typeface="SB Sans Display" panose="020B0503040504020204" pitchFamily="34" charset="0"/>
              </a:rPr>
              <a:t>request + context </a:t>
            </a:r>
            <a:endParaRPr kumimoji="0" lang="ru-RU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SB Sans Display" panose="020B0503040504020204" pitchFamily="34" charset="0"/>
            </a:endParaRPr>
          </a:p>
        </p:txBody>
      </p:sp>
      <p:cxnSp>
        <p:nvCxnSpPr>
          <p:cNvPr id="103" name="Прямая со стрелкой 102">
            <a:extLst>
              <a:ext uri="{FF2B5EF4-FFF2-40B4-BE49-F238E27FC236}">
                <a16:creationId xmlns:a16="http://schemas.microsoft.com/office/drawing/2014/main" id="{58F2A08C-3021-E626-6C8C-59861244FDF4}"/>
              </a:ext>
            </a:extLst>
          </p:cNvPr>
          <p:cNvCxnSpPr>
            <a:cxnSpLocks/>
            <a:stCxn id="50" idx="0"/>
            <a:endCxn id="51" idx="2"/>
          </p:cNvCxnSpPr>
          <p:nvPr/>
        </p:nvCxnSpPr>
        <p:spPr>
          <a:xfrm flipV="1">
            <a:off x="7564650" y="1517566"/>
            <a:ext cx="957392" cy="1573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26E45F01-4609-2CA8-9D26-583BDC0B3906}"/>
              </a:ext>
            </a:extLst>
          </p:cNvPr>
          <p:cNvSpPr txBox="1"/>
          <p:nvPr/>
        </p:nvSpPr>
        <p:spPr>
          <a:xfrm rot="1626468">
            <a:off x="5484548" y="4209717"/>
            <a:ext cx="160558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0">
              <a:defRPr/>
            </a:pPr>
            <a:r>
              <a:rPr lang="en-US" kern="1200" dirty="0">
                <a:cs typeface="SB Sans Display" panose="020B0503040504020204" pitchFamily="34" charset="0"/>
              </a:rPr>
              <a:t>vector request</a:t>
            </a:r>
            <a:endParaRPr kumimoji="0" lang="ru-RU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SB Sans Display" panose="020B0503040504020204" pitchFamily="34" charset="0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5FF2EAB7-0EE6-A011-AB43-FEDBC77C3B83}"/>
              </a:ext>
            </a:extLst>
          </p:cNvPr>
          <p:cNvSpPr txBox="1"/>
          <p:nvPr/>
        </p:nvSpPr>
        <p:spPr>
          <a:xfrm rot="3084538">
            <a:off x="9806701" y="1980391"/>
            <a:ext cx="1084694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0">
              <a:defRPr/>
            </a:pPr>
            <a:r>
              <a:rPr lang="en-US" kern="1200" dirty="0">
                <a:cs typeface="SB Sans Display" panose="020B0503040504020204" pitchFamily="34" charset="0"/>
              </a:rPr>
              <a:t>response</a:t>
            </a:r>
            <a:endParaRPr kumimoji="0" lang="ru-RU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SB Sans Display" panose="020B0503040504020204" pitchFamily="34" charset="0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93EA57E1-7E5D-0699-166F-F1FF29F98DC3}"/>
              </a:ext>
            </a:extLst>
          </p:cNvPr>
          <p:cNvSpPr txBox="1"/>
          <p:nvPr/>
        </p:nvSpPr>
        <p:spPr>
          <a:xfrm rot="1452061">
            <a:off x="5682005" y="2948052"/>
            <a:ext cx="1084694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0">
              <a:defRPr/>
            </a:pPr>
            <a:r>
              <a:rPr lang="en-US" kern="1200" dirty="0">
                <a:cs typeface="SB Sans Display" panose="020B0503040504020204" pitchFamily="34" charset="0"/>
              </a:rPr>
              <a:t>context</a:t>
            </a:r>
            <a:endParaRPr kumimoji="0" lang="ru-RU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SB Sans Display" panose="020B0503040504020204" pitchFamily="34" charset="0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2169AFAA-89B2-537F-F88F-2382EF8A3F69}"/>
              </a:ext>
            </a:extLst>
          </p:cNvPr>
          <p:cNvSpPr txBox="1"/>
          <p:nvPr/>
        </p:nvSpPr>
        <p:spPr>
          <a:xfrm>
            <a:off x="8246358" y="3665912"/>
            <a:ext cx="160558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0">
              <a:defRPr/>
            </a:pPr>
            <a:r>
              <a:rPr lang="en-US" kern="1200" dirty="0">
                <a:cs typeface="SB Sans Display" panose="020B0503040504020204" pitchFamily="34" charset="0"/>
              </a:rPr>
              <a:t>request</a:t>
            </a:r>
            <a:endParaRPr kumimoji="0" lang="ru-RU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SB Sans Display" panose="020B0503040504020204" pitchFamily="34" charset="0"/>
            </a:endParaRPr>
          </a:p>
        </p:txBody>
      </p:sp>
      <p:sp>
        <p:nvSpPr>
          <p:cNvPr id="176" name="Стрелка: изогнутая влево 175">
            <a:extLst>
              <a:ext uri="{FF2B5EF4-FFF2-40B4-BE49-F238E27FC236}">
                <a16:creationId xmlns:a16="http://schemas.microsoft.com/office/drawing/2014/main" id="{E2E8D9D4-8BC9-5B8B-4E30-B8C17EEB1326}"/>
              </a:ext>
            </a:extLst>
          </p:cNvPr>
          <p:cNvSpPr/>
          <p:nvPr/>
        </p:nvSpPr>
        <p:spPr>
          <a:xfrm>
            <a:off x="9315730" y="2185271"/>
            <a:ext cx="822759" cy="1007997"/>
          </a:xfrm>
          <a:prstGeom prst="curved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77" name="Стрелка: изогнутая влево 176">
            <a:extLst>
              <a:ext uri="{FF2B5EF4-FFF2-40B4-BE49-F238E27FC236}">
                <a16:creationId xmlns:a16="http://schemas.microsoft.com/office/drawing/2014/main" id="{CBAA2675-072E-DB41-6CF7-191DCC6FD418}"/>
              </a:ext>
            </a:extLst>
          </p:cNvPr>
          <p:cNvSpPr/>
          <p:nvPr/>
        </p:nvSpPr>
        <p:spPr>
          <a:xfrm rot="10800000">
            <a:off x="8062017" y="2130033"/>
            <a:ext cx="822759" cy="1007997"/>
          </a:xfrm>
          <a:prstGeom prst="curved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40E714D3-46A6-4167-D933-3D0EA88D0A97}"/>
              </a:ext>
            </a:extLst>
          </p:cNvPr>
          <p:cNvSpPr txBox="1"/>
          <p:nvPr/>
        </p:nvSpPr>
        <p:spPr>
          <a:xfrm>
            <a:off x="8261595" y="2525847"/>
            <a:ext cx="160558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0">
              <a:defRPr/>
            </a:pPr>
            <a:r>
              <a:rPr lang="en-US" kern="1200" dirty="0">
                <a:cs typeface="SB Sans Display" panose="020B0503040504020204" pitchFamily="34" charset="0"/>
              </a:rPr>
              <a:t>RAG cycle</a:t>
            </a:r>
            <a:endParaRPr kumimoji="0" lang="ru-RU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SB Sans Display" panose="020B050304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803464-4956-81C9-7D67-6E51D60C0F6A}"/>
              </a:ext>
            </a:extLst>
          </p:cNvPr>
          <p:cNvSpPr txBox="1"/>
          <p:nvPr/>
        </p:nvSpPr>
        <p:spPr>
          <a:xfrm>
            <a:off x="1161120" y="5355002"/>
            <a:ext cx="276829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rtl="0">
              <a:defRPr/>
            </a:pPr>
            <a:r>
              <a:rPr lang="en-US" kern="1200" dirty="0">
                <a:solidFill>
                  <a:schemeClr val="accent2"/>
                </a:solidFill>
                <a:cs typeface="SB Sans Display" panose="020B0503040504020204" pitchFamily="34" charset="0"/>
              </a:rPr>
              <a:t>s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ea typeface="+mn-ea"/>
                <a:cs typeface="SB Sans Display" panose="020B0503040504020204" pitchFamily="34" charset="0"/>
              </a:rPr>
              <a:t>tart session time </a:t>
            </a:r>
            <a:r>
              <a:rPr lang="ru-RU" kern="1200" dirty="0">
                <a:solidFill>
                  <a:schemeClr val="accent2"/>
                </a:solidFill>
                <a:cs typeface="SB Sans Display" panose="020B0503040504020204" pitchFamily="34" charset="0"/>
              </a:rPr>
              <a:t>~</a:t>
            </a:r>
            <a:r>
              <a:rPr lang="en-US" kern="1200" dirty="0">
                <a:solidFill>
                  <a:schemeClr val="accent2"/>
                </a:solidFill>
                <a:cs typeface="SB Sans Display" panose="020B0503040504020204" pitchFamily="34" charset="0"/>
              </a:rPr>
              <a:t>8</a:t>
            </a:r>
            <a:r>
              <a:rPr lang="ru-RU" kern="1200" dirty="0">
                <a:solidFill>
                  <a:schemeClr val="accent2"/>
                </a:solidFill>
                <a:cs typeface="SB Sans Display" panose="020B0503040504020204" pitchFamily="34" charset="0"/>
              </a:rPr>
              <a:t>-</a:t>
            </a:r>
            <a:r>
              <a:rPr lang="en-US" kern="1200" dirty="0">
                <a:solidFill>
                  <a:schemeClr val="accent2"/>
                </a:solidFill>
                <a:cs typeface="SB Sans Display" panose="020B0503040504020204" pitchFamily="34" charset="0"/>
              </a:rPr>
              <a:t>15</a:t>
            </a:r>
            <a:r>
              <a:rPr lang="ru-RU" kern="1200" dirty="0">
                <a:solidFill>
                  <a:schemeClr val="accent2"/>
                </a:solidFill>
                <a:cs typeface="SB Sans Display" panose="020B0503040504020204" pitchFamily="34" charset="0"/>
              </a:rPr>
              <a:t> </a:t>
            </a:r>
            <a:r>
              <a:rPr lang="en-US" kern="1200" dirty="0">
                <a:solidFill>
                  <a:schemeClr val="accent2"/>
                </a:solidFill>
                <a:cs typeface="SB Sans Display" panose="020B0503040504020204" pitchFamily="34" charset="0"/>
              </a:rPr>
              <a:t>sec</a:t>
            </a: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ea typeface="+mn-ea"/>
              <a:cs typeface="SB Sans Display" panose="020B0503040504020204" pitchFamily="34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1340D55B-FA1A-274C-E3BB-30F77CF40D68}"/>
              </a:ext>
            </a:extLst>
          </p:cNvPr>
          <p:cNvSpPr/>
          <p:nvPr/>
        </p:nvSpPr>
        <p:spPr>
          <a:xfrm>
            <a:off x="4192023" y="4617003"/>
            <a:ext cx="1458563" cy="719347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kern="1200" dirty="0">
                <a:solidFill>
                  <a:schemeClr val="accent2"/>
                </a:solidFill>
                <a:cs typeface="SB Sans Display" panose="020B0503040504020204" pitchFamily="34" charset="0"/>
              </a:rPr>
              <a:t>session </a:t>
            </a:r>
            <a:r>
              <a:rPr lang="en-US" dirty="0">
                <a:solidFill>
                  <a:schemeClr val="accent2"/>
                </a:solidFill>
              </a:rPr>
              <a:t>memory</a:t>
            </a:r>
            <a:endParaRPr lang="ru-RU" dirty="0">
              <a:solidFill>
                <a:schemeClr val="accent2"/>
              </a:solidFill>
            </a:endParaRP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171F166C-F359-E3D1-638F-B758E0B2DCE2}"/>
              </a:ext>
            </a:extLst>
          </p:cNvPr>
          <p:cNvCxnSpPr>
            <a:cxnSpLocks/>
            <a:stCxn id="5" idx="0"/>
            <a:endCxn id="46" idx="3"/>
          </p:cNvCxnSpPr>
          <p:nvPr/>
        </p:nvCxnSpPr>
        <p:spPr>
          <a:xfrm flipV="1">
            <a:off x="4921305" y="4125423"/>
            <a:ext cx="0" cy="491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8B8957F-6CB5-0B93-EC7A-B0740FF2BF6C}"/>
              </a:ext>
            </a:extLst>
          </p:cNvPr>
          <p:cNvSpPr txBox="1"/>
          <p:nvPr/>
        </p:nvSpPr>
        <p:spPr>
          <a:xfrm>
            <a:off x="6243417" y="5355002"/>
            <a:ext cx="3297976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rtl="0">
              <a:defRPr/>
            </a:pPr>
            <a:r>
              <a:rPr lang="en-US" kern="1200" dirty="0">
                <a:solidFill>
                  <a:schemeClr val="accent2"/>
                </a:solidFill>
                <a:cs typeface="SB Sans Display" panose="020B0503040504020204" pitchFamily="34" charset="0"/>
              </a:rPr>
              <a:t>run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ea typeface="+mn-ea"/>
                <a:cs typeface="SB Sans Display" panose="020B0503040504020204" pitchFamily="34" charset="0"/>
              </a:rPr>
              <a:t> </a:t>
            </a:r>
            <a:r>
              <a:rPr lang="en-US" kern="1200" dirty="0">
                <a:solidFill>
                  <a:schemeClr val="accent2"/>
                </a:solidFill>
                <a:cs typeface="SB Sans Display" panose="020B0503040504020204" pitchFamily="34" charset="0"/>
              </a:rPr>
              <a:t>cycle time </a:t>
            </a:r>
            <a:r>
              <a:rPr kumimoji="0" lang="ru-RU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ea typeface="+mn-ea"/>
                <a:cs typeface="SB Sans Display" panose="020B0503040504020204" pitchFamily="34" charset="0"/>
              </a:rPr>
              <a:t>~3-8 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ea typeface="+mn-ea"/>
                <a:cs typeface="SB Sans Display" panose="020B0503040504020204" pitchFamily="34" charset="0"/>
              </a:rPr>
              <a:t>sec</a:t>
            </a:r>
            <a:r>
              <a:rPr kumimoji="0" lang="ru-RU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ea typeface="+mn-ea"/>
                <a:cs typeface="SB Sans Display" panose="020B0503040504020204" pitchFamily="34" charset="0"/>
              </a:rPr>
              <a:t> (99% - </a:t>
            </a:r>
            <a:r>
              <a:rPr lang="en-US" kern="1200" dirty="0">
                <a:solidFill>
                  <a:schemeClr val="accent2"/>
                </a:solidFill>
                <a:cs typeface="SB Sans Display" panose="020B0503040504020204" pitchFamily="34" charset="0"/>
              </a:rPr>
              <a:t>LLM)</a:t>
            </a: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ea typeface="+mn-ea"/>
              <a:cs typeface="SB Sans Display" panose="020B0503040504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6875ED-09DF-8498-3820-7E697744E9A0}"/>
              </a:ext>
            </a:extLst>
          </p:cNvPr>
          <p:cNvSpPr txBox="1"/>
          <p:nvPr/>
        </p:nvSpPr>
        <p:spPr>
          <a:xfrm>
            <a:off x="11537313" y="6436768"/>
            <a:ext cx="5040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kern="1200" dirty="0">
                <a:cs typeface="SB Sans Display" panose="020B0503040504020204" pitchFamily="34" charset="0"/>
              </a:rPr>
              <a:t>6</a:t>
            </a:r>
            <a:endParaRPr lang="ru-RU" sz="1400" dirty="0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764EF440-EA7B-2898-6EE5-734D567E0A73}"/>
              </a:ext>
            </a:extLst>
          </p:cNvPr>
          <p:cNvCxnSpPr>
            <a:cxnSpLocks/>
          </p:cNvCxnSpPr>
          <p:nvPr/>
        </p:nvCxnSpPr>
        <p:spPr>
          <a:xfrm>
            <a:off x="557413" y="5658716"/>
            <a:ext cx="3634610" cy="0"/>
          </a:xfrm>
          <a:prstGeom prst="straightConnector1">
            <a:avLst/>
          </a:prstGeom>
          <a:ln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E4AF22BA-F6C7-8DB3-BC46-7D815B92281F}"/>
              </a:ext>
            </a:extLst>
          </p:cNvPr>
          <p:cNvCxnSpPr>
            <a:cxnSpLocks/>
          </p:cNvCxnSpPr>
          <p:nvPr/>
        </p:nvCxnSpPr>
        <p:spPr>
          <a:xfrm flipV="1">
            <a:off x="4192023" y="5612909"/>
            <a:ext cx="7520206" cy="43422"/>
          </a:xfrm>
          <a:prstGeom prst="straightConnector1">
            <a:avLst/>
          </a:prstGeom>
          <a:ln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5523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76A23-1E59-12CA-4273-3AD0FA0C4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164;g2cf6a24b2c0_0_2">
            <a:extLst>
              <a:ext uri="{FF2B5EF4-FFF2-40B4-BE49-F238E27FC236}">
                <a16:creationId xmlns:a16="http://schemas.microsoft.com/office/drawing/2014/main" id="{48424062-3DD9-82D1-5E26-3A022576D21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79" b="179"/>
          <a:stretch/>
        </p:blipFill>
        <p:spPr>
          <a:xfrm>
            <a:off x="1075" y="0"/>
            <a:ext cx="12189848" cy="78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166;g2cf6a24b2c0_0_2">
            <a:extLst>
              <a:ext uri="{FF2B5EF4-FFF2-40B4-BE49-F238E27FC236}">
                <a16:creationId xmlns:a16="http://schemas.microsoft.com/office/drawing/2014/main" id="{91E84CDD-82AC-34C6-9F96-BF1095BA4A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009" b="1009"/>
          <a:stretch/>
        </p:blipFill>
        <p:spPr>
          <a:xfrm>
            <a:off x="9288250" y="272044"/>
            <a:ext cx="2520003" cy="2230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63;g2cf6a24b2c0_0_2">
            <a:extLst>
              <a:ext uri="{FF2B5EF4-FFF2-40B4-BE49-F238E27FC236}">
                <a16:creationId xmlns:a16="http://schemas.microsoft.com/office/drawing/2014/main" id="{1B5D219F-FD37-36D5-8A72-D66C130AF8F9}"/>
              </a:ext>
            </a:extLst>
          </p:cNvPr>
          <p:cNvSpPr txBox="1"/>
          <p:nvPr/>
        </p:nvSpPr>
        <p:spPr>
          <a:xfrm>
            <a:off x="461377" y="891207"/>
            <a:ext cx="11346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wrap="square" lIns="0" tIns="0" rIns="0" bIns="0" anchor="t" anchorCtr="0">
            <a:spAutoFit/>
          </a:bodyPr>
          <a:lstStyle/>
          <a:p>
            <a:pPr lvl="0" rtl="0">
              <a:buClr>
                <a:srgbClr val="000000"/>
              </a:buClr>
              <a:buSzPts val="3600"/>
            </a:pP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Мультимодальная </a:t>
            </a:r>
            <a:r>
              <a:rPr lang="en-US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RAG-</a:t>
            </a: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система</a:t>
            </a:r>
            <a:endParaRPr lang="en-US" sz="2800" dirty="0">
              <a:solidFill>
                <a:srgbClr val="082326"/>
              </a:solidFill>
              <a:latin typeface="Montserrat ExtraBold"/>
              <a:ea typeface="Montserrat ExtraBold"/>
              <a:cs typeface="Montserrat Extra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EDC4E5-36FB-999F-2126-DF4E65316743}"/>
              </a:ext>
            </a:extLst>
          </p:cNvPr>
          <p:cNvSpPr txBox="1"/>
          <p:nvPr/>
        </p:nvSpPr>
        <p:spPr>
          <a:xfrm>
            <a:off x="474534" y="1700808"/>
            <a:ext cx="8092378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Визуализация и публикация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705920-BF37-5A5F-3DFA-9A1A1C2983F7}"/>
              </a:ext>
            </a:extLst>
          </p:cNvPr>
          <p:cNvSpPr txBox="1"/>
          <p:nvPr/>
        </p:nvSpPr>
        <p:spPr>
          <a:xfrm>
            <a:off x="11537313" y="6436768"/>
            <a:ext cx="5040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kern="1200" dirty="0">
                <a:cs typeface="SB Sans Display" panose="020B0503040504020204" pitchFamily="34" charset="0"/>
              </a:rPr>
              <a:t>7</a:t>
            </a:r>
            <a:endParaRPr lang="ru-RU" sz="14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20319D6-C2A0-2AB8-7484-500EE6D695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591" y="2276872"/>
            <a:ext cx="6985389" cy="4123040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FFB6F7-B5BC-D4FE-EEE2-0A1FBC15BC26}"/>
              </a:ext>
            </a:extLst>
          </p:cNvPr>
          <p:cNvSpPr txBox="1"/>
          <p:nvPr/>
        </p:nvSpPr>
        <p:spPr>
          <a:xfrm>
            <a:off x="489112" y="2564904"/>
            <a:ext cx="4338479" cy="39703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визуализация -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streamlit</a:t>
            </a:r>
          </a:p>
          <a:p>
            <a:pPr marL="342900" indent="-342900" rtl="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ru-RU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отображается название</a:t>
            </a:r>
          </a:p>
          <a:p>
            <a:pPr marL="342900" indent="-342900" rtl="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ru-RU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имя</a:t>
            </a:r>
            <a:r>
              <a:rPr lang="en-US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,</a:t>
            </a:r>
            <a:r>
              <a:rPr lang="ru-RU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  ОС хоста</a:t>
            </a:r>
            <a:r>
              <a:rPr lang="en-US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 </a:t>
            </a:r>
            <a:r>
              <a:rPr lang="ru-RU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и </a:t>
            </a:r>
            <a:r>
              <a:rPr lang="en-US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LLM</a:t>
            </a:r>
            <a:endParaRPr lang="ru-RU" b="1" kern="1200" dirty="0">
              <a:solidFill>
                <a:srgbClr val="000000"/>
              </a:solidFill>
              <a:latin typeface="Montserrat SemiBold" panose="00000700000000000000" pitchFamily="2" charset="-52"/>
              <a:cs typeface="SB Sans Display" panose="020B0503040504020204" pitchFamily="34" charset="0"/>
            </a:endParaRPr>
          </a:p>
          <a:p>
            <a:pPr marL="342900" indent="-342900" rtl="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переключатель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RAG/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woRAG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  <a:cs typeface="SB Sans Display" panose="020B0503040504020204" pitchFamily="34" charset="0"/>
            </a:endParaRPr>
          </a:p>
          <a:p>
            <a:pPr marL="342900" indent="-342900" rtl="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ru-RU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к</a:t>
            </a:r>
            <a:r>
              <a:rPr kumimoji="0" lang="ru-RU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нопка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 очистки диалога</a:t>
            </a:r>
          </a:p>
          <a:p>
            <a:pPr marL="342900" indent="-342900" rtl="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ru-RU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поле ввода текста</a:t>
            </a:r>
          </a:p>
          <a:p>
            <a:pPr marL="342900" indent="-342900" rtl="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ru-RU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к</a:t>
            </a:r>
            <a:r>
              <a:rPr kumimoji="0" lang="ru-RU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нопка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 загрузки файлов</a:t>
            </a:r>
          </a:p>
          <a:p>
            <a:pPr marL="342900" indent="-342900" rtl="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ru-RU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публикация на</a:t>
            </a:r>
          </a:p>
          <a:p>
            <a:pPr marL="742950" lvl="1" indent="-285750" rtl="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ru-RU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  <a:hlinkClick r:id="rId5"/>
              </a:rPr>
              <a:t>https://share.streamlit.io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  <a:cs typeface="SB Sans Display" panose="020B0503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  <a:cs typeface="SB Sans Display" panose="020B0503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827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F1286-9D2B-3C3F-CA85-8F5A5E5D2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164;g2cf6a24b2c0_0_2">
            <a:extLst>
              <a:ext uri="{FF2B5EF4-FFF2-40B4-BE49-F238E27FC236}">
                <a16:creationId xmlns:a16="http://schemas.microsoft.com/office/drawing/2014/main" id="{D851237B-1D6A-E3D8-856F-20DDB6D4CD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79" b="179"/>
          <a:stretch/>
        </p:blipFill>
        <p:spPr>
          <a:xfrm>
            <a:off x="1075" y="0"/>
            <a:ext cx="12189848" cy="78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166;g2cf6a24b2c0_0_2">
            <a:extLst>
              <a:ext uri="{FF2B5EF4-FFF2-40B4-BE49-F238E27FC236}">
                <a16:creationId xmlns:a16="http://schemas.microsoft.com/office/drawing/2014/main" id="{797C0FF5-B462-6EE5-AB27-6B55A9B49E8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009" b="1009"/>
          <a:stretch/>
        </p:blipFill>
        <p:spPr>
          <a:xfrm>
            <a:off x="9288250" y="272044"/>
            <a:ext cx="2520003" cy="2230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63;g2cf6a24b2c0_0_2">
            <a:extLst>
              <a:ext uri="{FF2B5EF4-FFF2-40B4-BE49-F238E27FC236}">
                <a16:creationId xmlns:a16="http://schemas.microsoft.com/office/drawing/2014/main" id="{984A72C9-F965-6512-A407-2BFBD4979194}"/>
              </a:ext>
            </a:extLst>
          </p:cNvPr>
          <p:cNvSpPr txBox="1"/>
          <p:nvPr/>
        </p:nvSpPr>
        <p:spPr>
          <a:xfrm>
            <a:off x="461377" y="891207"/>
            <a:ext cx="11346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wrap="square" lIns="0" tIns="0" rIns="0" bIns="0" anchor="t" anchorCtr="0">
            <a:spAutoFit/>
          </a:bodyPr>
          <a:lstStyle/>
          <a:p>
            <a:pPr lvl="0" rtl="0">
              <a:buClr>
                <a:srgbClr val="000000"/>
              </a:buClr>
              <a:buSzPts val="3600"/>
            </a:pP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Мультимодальная </a:t>
            </a:r>
            <a:r>
              <a:rPr lang="en-US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RAG-</a:t>
            </a: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система</a:t>
            </a:r>
            <a:endParaRPr lang="en-US" sz="2800" dirty="0">
              <a:solidFill>
                <a:srgbClr val="082326"/>
              </a:solidFill>
              <a:latin typeface="Montserrat ExtraBold"/>
              <a:ea typeface="Montserrat ExtraBold"/>
              <a:cs typeface="Montserrat Extra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D5C79E-4A2D-7A9B-E100-4DBF6A808328}"/>
              </a:ext>
            </a:extLst>
          </p:cNvPr>
          <p:cNvSpPr txBox="1"/>
          <p:nvPr/>
        </p:nvSpPr>
        <p:spPr>
          <a:xfrm>
            <a:off x="461377" y="1700808"/>
            <a:ext cx="8092378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Примеры вопросов и ответов  LLM с RAG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A5EF86-E454-2FB9-0861-D4741E47E207}"/>
              </a:ext>
            </a:extLst>
          </p:cNvPr>
          <p:cNvSpPr txBox="1"/>
          <p:nvPr/>
        </p:nvSpPr>
        <p:spPr>
          <a:xfrm>
            <a:off x="11537313" y="6436768"/>
            <a:ext cx="5040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400" kern="1200" dirty="0">
                <a:cs typeface="SB Sans Display" panose="020B0503040504020204" pitchFamily="34" charset="0"/>
              </a:rPr>
              <a:t>8</a:t>
            </a:r>
            <a:endParaRPr lang="ru-RU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0CE4DA-D313-6415-5B2E-C76A554BE924}"/>
              </a:ext>
            </a:extLst>
          </p:cNvPr>
          <p:cNvSpPr txBox="1"/>
          <p:nvPr/>
        </p:nvSpPr>
        <p:spPr>
          <a:xfrm>
            <a:off x="461377" y="2389901"/>
            <a:ext cx="4968551" cy="16927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по текстовым данным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  <a:cs typeface="SB Sans Display" panose="020B0503040504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Что можно сказать </a:t>
            </a:r>
            <a:r>
              <a:rPr lang="ru-RU" b="1" kern="1200" dirty="0">
                <a:solidFill>
                  <a:srgbClr val="00B05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о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 технологическом лидерстве Сбера на основании его отчета за 2023 год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  <a:cs typeface="SB Sans Display" panose="020B0503040504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D58A4BF-EBF7-BA40-FC29-F1881A40B3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294" y="924708"/>
            <a:ext cx="3889329" cy="566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024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551A1-5840-D611-A3A9-EE3CE0046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164;g2cf6a24b2c0_0_2">
            <a:extLst>
              <a:ext uri="{FF2B5EF4-FFF2-40B4-BE49-F238E27FC236}">
                <a16:creationId xmlns:a16="http://schemas.microsoft.com/office/drawing/2014/main" id="{4761ECC3-8B1B-A1DD-01FA-55112430856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79" b="179"/>
          <a:stretch/>
        </p:blipFill>
        <p:spPr>
          <a:xfrm>
            <a:off x="1075" y="0"/>
            <a:ext cx="12189848" cy="78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166;g2cf6a24b2c0_0_2">
            <a:extLst>
              <a:ext uri="{FF2B5EF4-FFF2-40B4-BE49-F238E27FC236}">
                <a16:creationId xmlns:a16="http://schemas.microsoft.com/office/drawing/2014/main" id="{13F487F9-02AE-16C3-5496-830AB83088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009" b="1009"/>
          <a:stretch/>
        </p:blipFill>
        <p:spPr>
          <a:xfrm>
            <a:off x="9288250" y="272044"/>
            <a:ext cx="2520003" cy="2230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63;g2cf6a24b2c0_0_2">
            <a:extLst>
              <a:ext uri="{FF2B5EF4-FFF2-40B4-BE49-F238E27FC236}">
                <a16:creationId xmlns:a16="http://schemas.microsoft.com/office/drawing/2014/main" id="{76C2D838-2BC7-0D7E-9EB7-48BF83BC18F4}"/>
              </a:ext>
            </a:extLst>
          </p:cNvPr>
          <p:cNvSpPr txBox="1"/>
          <p:nvPr/>
        </p:nvSpPr>
        <p:spPr>
          <a:xfrm>
            <a:off x="461377" y="891207"/>
            <a:ext cx="11346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wrap="square" lIns="0" tIns="0" rIns="0" bIns="0" anchor="t" anchorCtr="0">
            <a:spAutoFit/>
          </a:bodyPr>
          <a:lstStyle/>
          <a:p>
            <a:pPr lvl="0" rtl="0">
              <a:buClr>
                <a:srgbClr val="000000"/>
              </a:buClr>
              <a:buSzPts val="3600"/>
            </a:pP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Мультимодальная </a:t>
            </a:r>
            <a:r>
              <a:rPr lang="en-US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RAG-</a:t>
            </a: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система</a:t>
            </a:r>
            <a:endParaRPr lang="en-US" sz="2800" dirty="0">
              <a:solidFill>
                <a:srgbClr val="082326"/>
              </a:solidFill>
              <a:latin typeface="Montserrat ExtraBold"/>
              <a:ea typeface="Montserrat ExtraBold"/>
              <a:cs typeface="Montserrat Extra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1E2144-262B-7054-B655-4276C66D6355}"/>
              </a:ext>
            </a:extLst>
          </p:cNvPr>
          <p:cNvSpPr txBox="1"/>
          <p:nvPr/>
        </p:nvSpPr>
        <p:spPr>
          <a:xfrm>
            <a:off x="461377" y="1700808"/>
            <a:ext cx="8092378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Примеры вопросов и ответов  LLM с RAG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7D47BF-FF1D-9200-426F-2D4E004DDAF4}"/>
              </a:ext>
            </a:extLst>
          </p:cNvPr>
          <p:cNvSpPr txBox="1"/>
          <p:nvPr/>
        </p:nvSpPr>
        <p:spPr>
          <a:xfrm>
            <a:off x="11537313" y="6436768"/>
            <a:ext cx="5040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400" kern="1200" dirty="0">
                <a:cs typeface="SB Sans Display" panose="020B0503040504020204" pitchFamily="34" charset="0"/>
              </a:rPr>
              <a:t>9</a:t>
            </a:r>
            <a:endParaRPr lang="ru-RU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BBB4A6-120D-418F-7C76-8BDC5C8F70E7}"/>
              </a:ext>
            </a:extLst>
          </p:cNvPr>
          <p:cNvSpPr txBox="1"/>
          <p:nvPr/>
        </p:nvSpPr>
        <p:spPr>
          <a:xfrm>
            <a:off x="461377" y="2389901"/>
            <a:ext cx="4968551" cy="19697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по табличным данным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  <a:cs typeface="SB Sans Display" panose="020B0503040504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Что говорится в отчете Сбера о кредитах по амортизированной и справедливой стоимости на конец 2022 и 2023 года?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  <a:cs typeface="SB Sans Display" panose="020B0503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  <a:cs typeface="SB Sans Display" panose="020B0503040504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3D503B4-2C35-B8C2-CAFC-DAEF04D8A3C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294" y="925306"/>
            <a:ext cx="3889329" cy="566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595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4CA2D-53B5-3BD5-2CAB-BACB33FDF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164;g2cf6a24b2c0_0_2">
            <a:extLst>
              <a:ext uri="{FF2B5EF4-FFF2-40B4-BE49-F238E27FC236}">
                <a16:creationId xmlns:a16="http://schemas.microsoft.com/office/drawing/2014/main" id="{A116F1F8-4A28-BE7D-504D-4EFA912B5BB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79" b="179"/>
          <a:stretch/>
        </p:blipFill>
        <p:spPr>
          <a:xfrm>
            <a:off x="1075" y="0"/>
            <a:ext cx="12189848" cy="78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166;g2cf6a24b2c0_0_2">
            <a:extLst>
              <a:ext uri="{FF2B5EF4-FFF2-40B4-BE49-F238E27FC236}">
                <a16:creationId xmlns:a16="http://schemas.microsoft.com/office/drawing/2014/main" id="{F793BD47-094D-F793-3BD2-0EFD801F8E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009" b="1009"/>
          <a:stretch/>
        </p:blipFill>
        <p:spPr>
          <a:xfrm>
            <a:off x="9288250" y="272044"/>
            <a:ext cx="2520003" cy="2230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63;g2cf6a24b2c0_0_2">
            <a:extLst>
              <a:ext uri="{FF2B5EF4-FFF2-40B4-BE49-F238E27FC236}">
                <a16:creationId xmlns:a16="http://schemas.microsoft.com/office/drawing/2014/main" id="{0B938251-017D-932D-7B8D-E5FA8693C74A}"/>
              </a:ext>
            </a:extLst>
          </p:cNvPr>
          <p:cNvSpPr txBox="1"/>
          <p:nvPr/>
        </p:nvSpPr>
        <p:spPr>
          <a:xfrm>
            <a:off x="461377" y="891207"/>
            <a:ext cx="11346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wrap="square" lIns="0" tIns="0" rIns="0" bIns="0" anchor="t" anchorCtr="0">
            <a:spAutoFit/>
          </a:bodyPr>
          <a:lstStyle/>
          <a:p>
            <a:pPr lvl="0" rtl="0">
              <a:buClr>
                <a:srgbClr val="000000"/>
              </a:buClr>
              <a:buSzPts val="3600"/>
            </a:pP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Мультимодальная </a:t>
            </a:r>
            <a:r>
              <a:rPr lang="en-US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RAG-</a:t>
            </a: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система</a:t>
            </a:r>
            <a:endParaRPr lang="en-US" sz="2800" dirty="0">
              <a:solidFill>
                <a:srgbClr val="082326"/>
              </a:solidFill>
              <a:latin typeface="Montserrat ExtraBold"/>
              <a:ea typeface="Montserrat ExtraBold"/>
              <a:cs typeface="Montserrat Extra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EEF51E-0C1C-3D5B-D1AC-DEB56521BE18}"/>
              </a:ext>
            </a:extLst>
          </p:cNvPr>
          <p:cNvSpPr txBox="1"/>
          <p:nvPr/>
        </p:nvSpPr>
        <p:spPr>
          <a:xfrm>
            <a:off x="461377" y="1700808"/>
            <a:ext cx="8092378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Примеры вопросов и ответов  LLM с RAG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BD65A8-ECDD-9924-28BA-3A8C8028358F}"/>
              </a:ext>
            </a:extLst>
          </p:cNvPr>
          <p:cNvSpPr txBox="1"/>
          <p:nvPr/>
        </p:nvSpPr>
        <p:spPr>
          <a:xfrm>
            <a:off x="11537313" y="6436768"/>
            <a:ext cx="5040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kern="1200" dirty="0">
                <a:cs typeface="SB Sans Display" panose="020B0503040504020204" pitchFamily="34" charset="0"/>
              </a:rPr>
              <a:t>10</a:t>
            </a:r>
            <a:endParaRPr lang="ru-RU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E119C8-3993-E842-E9C1-0CA3914C31E2}"/>
              </a:ext>
            </a:extLst>
          </p:cNvPr>
          <p:cNvSpPr txBox="1"/>
          <p:nvPr/>
        </p:nvSpPr>
        <p:spPr>
          <a:xfrm>
            <a:off x="461377" y="2389901"/>
            <a:ext cx="496855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по описанию картинок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A94285-54F6-C7AD-E568-B7C7695286D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82" y="3049603"/>
            <a:ext cx="5353313" cy="3384376"/>
          </a:xfrm>
          <a:prstGeom prst="rect">
            <a:avLst/>
          </a:prstGeom>
          <a:ln>
            <a:solidFill>
              <a:schemeClr val="accent5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4B6A81B-511F-5F85-C38D-E4AB874884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4162" y="2194621"/>
            <a:ext cx="5745781" cy="4239358"/>
          </a:xfrm>
          <a:prstGeom prst="rect">
            <a:avLst/>
          </a:prstGeom>
          <a:ln>
            <a:solidFill>
              <a:schemeClr val="accent5"/>
            </a:solidFill>
          </a:ln>
        </p:spPr>
      </p:pic>
    </p:spTree>
    <p:extLst>
      <p:ext uri="{BB962C8B-B14F-4D97-AF65-F5344CB8AC3E}">
        <p14:creationId xmlns:p14="http://schemas.microsoft.com/office/powerpoint/2010/main" val="2821198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13CFC-85EC-75AF-B615-E15713976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164;g2cf6a24b2c0_0_2">
            <a:extLst>
              <a:ext uri="{FF2B5EF4-FFF2-40B4-BE49-F238E27FC236}">
                <a16:creationId xmlns:a16="http://schemas.microsoft.com/office/drawing/2014/main" id="{2609BF69-1869-DFD3-89A7-259C7C27FD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79" b="179"/>
          <a:stretch/>
        </p:blipFill>
        <p:spPr>
          <a:xfrm>
            <a:off x="1075" y="0"/>
            <a:ext cx="12189848" cy="78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166;g2cf6a24b2c0_0_2">
            <a:extLst>
              <a:ext uri="{FF2B5EF4-FFF2-40B4-BE49-F238E27FC236}">
                <a16:creationId xmlns:a16="http://schemas.microsoft.com/office/drawing/2014/main" id="{B499A6BF-EEDA-F409-9A8D-63B5E87C0EB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009" b="1009"/>
          <a:stretch/>
        </p:blipFill>
        <p:spPr>
          <a:xfrm>
            <a:off x="9288250" y="272044"/>
            <a:ext cx="2520003" cy="2230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63;g2cf6a24b2c0_0_2">
            <a:extLst>
              <a:ext uri="{FF2B5EF4-FFF2-40B4-BE49-F238E27FC236}">
                <a16:creationId xmlns:a16="http://schemas.microsoft.com/office/drawing/2014/main" id="{D1791987-5DEC-A267-F75F-C9EBBA031140}"/>
              </a:ext>
            </a:extLst>
          </p:cNvPr>
          <p:cNvSpPr txBox="1"/>
          <p:nvPr/>
        </p:nvSpPr>
        <p:spPr>
          <a:xfrm>
            <a:off x="461377" y="891207"/>
            <a:ext cx="11346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wrap="square" lIns="0" tIns="0" rIns="0" bIns="0" anchor="t" anchorCtr="0">
            <a:spAutoFit/>
          </a:bodyPr>
          <a:lstStyle/>
          <a:p>
            <a:pPr lvl="0" rtl="0">
              <a:buClr>
                <a:srgbClr val="000000"/>
              </a:buClr>
              <a:buSzPts val="3600"/>
            </a:pP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Мультимодальная </a:t>
            </a:r>
            <a:r>
              <a:rPr lang="en-US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RAG-</a:t>
            </a: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система</a:t>
            </a:r>
            <a:endParaRPr lang="en-US" sz="2800" dirty="0">
              <a:solidFill>
                <a:srgbClr val="082326"/>
              </a:solidFill>
              <a:latin typeface="Montserrat ExtraBold"/>
              <a:ea typeface="Montserrat ExtraBold"/>
              <a:cs typeface="Montserrat Extra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E4668F-DED2-1636-1B80-0E595A1A2C6F}"/>
              </a:ext>
            </a:extLst>
          </p:cNvPr>
          <p:cNvSpPr txBox="1"/>
          <p:nvPr/>
        </p:nvSpPr>
        <p:spPr>
          <a:xfrm>
            <a:off x="461377" y="1700808"/>
            <a:ext cx="8092378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Примеры вопросов и ответов  LLM с RAG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AC60EF-39F3-7982-BCF0-628F0D14C3CE}"/>
              </a:ext>
            </a:extLst>
          </p:cNvPr>
          <p:cNvSpPr txBox="1"/>
          <p:nvPr/>
        </p:nvSpPr>
        <p:spPr>
          <a:xfrm>
            <a:off x="11537313" y="6436768"/>
            <a:ext cx="5040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kern="1200" dirty="0">
                <a:cs typeface="SB Sans Display" panose="020B0503040504020204" pitchFamily="34" charset="0"/>
              </a:rPr>
              <a:t>11</a:t>
            </a:r>
            <a:endParaRPr lang="ru-RU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E07203-466E-589D-B3EA-3DE39CDA6D71}"/>
              </a:ext>
            </a:extLst>
          </p:cNvPr>
          <p:cNvSpPr txBox="1"/>
          <p:nvPr/>
        </p:nvSpPr>
        <p:spPr>
          <a:xfrm>
            <a:off x="461377" y="2389901"/>
            <a:ext cx="496855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по загруженным картинкам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9B5D6A1-4590-454F-AE77-FDF4C76F9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7144" y="2204864"/>
            <a:ext cx="6482197" cy="4202468"/>
          </a:xfrm>
          <a:prstGeom prst="rect">
            <a:avLst/>
          </a:prstGeom>
          <a:ln>
            <a:solidFill>
              <a:schemeClr val="accent5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7915233-125D-EFF7-271C-EE562FE9DD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07" y="3546115"/>
            <a:ext cx="2040328" cy="128309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63BBB5C-BFA2-D2B9-13C7-06146D2697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508" y="3546115"/>
            <a:ext cx="2040328" cy="129645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A48FD2C-7310-9725-7468-BDA35F3691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58" y="5103319"/>
            <a:ext cx="2040328" cy="129791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54D3C27-71C0-7F15-E870-1F374BB52B8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508" y="5097227"/>
            <a:ext cx="2040328" cy="131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569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379DF-80BE-DE04-7777-F2E029ACE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164;g2cf6a24b2c0_0_2">
            <a:extLst>
              <a:ext uri="{FF2B5EF4-FFF2-40B4-BE49-F238E27FC236}">
                <a16:creationId xmlns:a16="http://schemas.microsoft.com/office/drawing/2014/main" id="{C7E688D3-5D95-FEB6-2BB6-B1926E92703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79" b="179"/>
          <a:stretch/>
        </p:blipFill>
        <p:spPr>
          <a:xfrm>
            <a:off x="1075" y="0"/>
            <a:ext cx="12189848" cy="78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166;g2cf6a24b2c0_0_2">
            <a:extLst>
              <a:ext uri="{FF2B5EF4-FFF2-40B4-BE49-F238E27FC236}">
                <a16:creationId xmlns:a16="http://schemas.microsoft.com/office/drawing/2014/main" id="{D5B8B65C-880E-BB66-4D7E-D6D6D083849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009" b="1009"/>
          <a:stretch/>
        </p:blipFill>
        <p:spPr>
          <a:xfrm>
            <a:off x="9288250" y="272044"/>
            <a:ext cx="2520003" cy="2230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63;g2cf6a24b2c0_0_2">
            <a:extLst>
              <a:ext uri="{FF2B5EF4-FFF2-40B4-BE49-F238E27FC236}">
                <a16:creationId xmlns:a16="http://schemas.microsoft.com/office/drawing/2014/main" id="{AB832076-8583-803D-802F-CD83AEFFBCB4}"/>
              </a:ext>
            </a:extLst>
          </p:cNvPr>
          <p:cNvSpPr txBox="1"/>
          <p:nvPr/>
        </p:nvSpPr>
        <p:spPr>
          <a:xfrm>
            <a:off x="461377" y="891207"/>
            <a:ext cx="11346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wrap="square" lIns="0" tIns="0" rIns="0" bIns="0" anchor="t" anchorCtr="0">
            <a:spAutoFit/>
          </a:bodyPr>
          <a:lstStyle/>
          <a:p>
            <a:pPr lvl="0" rtl="0">
              <a:buClr>
                <a:srgbClr val="000000"/>
              </a:buClr>
              <a:buSzPts val="3600"/>
            </a:pP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Мультимодальная </a:t>
            </a:r>
            <a:r>
              <a:rPr lang="en-US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RAG-</a:t>
            </a: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система</a:t>
            </a:r>
            <a:endParaRPr lang="en-US" sz="2800" dirty="0">
              <a:solidFill>
                <a:srgbClr val="082326"/>
              </a:solidFill>
              <a:latin typeface="Montserrat ExtraBold"/>
              <a:ea typeface="Montserrat ExtraBold"/>
              <a:cs typeface="Montserrat Extra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D30ADE-BB80-4826-CBB7-63EA416C86EB}"/>
              </a:ext>
            </a:extLst>
          </p:cNvPr>
          <p:cNvSpPr txBox="1"/>
          <p:nvPr/>
        </p:nvSpPr>
        <p:spPr>
          <a:xfrm>
            <a:off x="461377" y="1700808"/>
            <a:ext cx="8092378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200" b="1" kern="1200" dirty="0">
                <a:solidFill>
                  <a:srgbClr val="00206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Решение проблем по ходу проекта</a:t>
            </a:r>
            <a:endParaRPr kumimoji="0" lang="ru-RU" sz="2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  <a:cs typeface="SB Sans Display" panose="020B050304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BB1BF5-BAFC-475A-C057-BDE56DB4A540}"/>
              </a:ext>
            </a:extLst>
          </p:cNvPr>
          <p:cNvSpPr txBox="1"/>
          <p:nvPr/>
        </p:nvSpPr>
        <p:spPr>
          <a:xfrm>
            <a:off x="11537313" y="6436768"/>
            <a:ext cx="5040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kern="1200" dirty="0">
                <a:cs typeface="SB Sans Display" panose="020B0503040504020204" pitchFamily="34" charset="0"/>
              </a:rPr>
              <a:t>12</a:t>
            </a:r>
            <a:endParaRPr lang="ru-RU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905114-91C9-6EC0-A0E5-D0799CBCB03B}"/>
              </a:ext>
            </a:extLst>
          </p:cNvPr>
          <p:cNvSpPr txBox="1"/>
          <p:nvPr/>
        </p:nvSpPr>
        <p:spPr>
          <a:xfrm>
            <a:off x="466278" y="2708920"/>
            <a:ext cx="11346875" cy="30162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  <a:defRPr/>
            </a:pPr>
            <a:r>
              <a:rPr lang="ru-RU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подбор промптов на этапе предобработки для суммаризации текстов и </a:t>
            </a:r>
            <a:r>
              <a:rPr lang="en-US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images</a:t>
            </a:r>
          </a:p>
          <a:p>
            <a:pPr marL="342900" indent="-342900" rtl="0">
              <a:buFont typeface="Arial" panose="020B0604020202020204" pitchFamily="34" charset="0"/>
              <a:buChar char="•"/>
              <a:defRPr/>
            </a:pPr>
            <a:endParaRPr lang="ru-RU" sz="2000" b="1" kern="1200" dirty="0">
              <a:solidFill>
                <a:srgbClr val="000000"/>
              </a:solidFill>
              <a:latin typeface="Montserrat SemiBold" panose="00000700000000000000" pitchFamily="2" charset="-52"/>
              <a:cs typeface="SB Sans Display" panose="020B0503040504020204" pitchFamily="34" charset="0"/>
            </a:endParaRPr>
          </a:p>
          <a:p>
            <a:pPr marL="342900" indent="-342900" rtl="0">
              <a:buFont typeface="Arial" panose="020B0604020202020204" pitchFamily="34" charset="0"/>
              <a:buChar char="•"/>
              <a:defRPr/>
            </a:pPr>
            <a:r>
              <a:rPr lang="en-US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deploy.py </a:t>
            </a:r>
            <a:r>
              <a:rPr lang="ru-RU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не</a:t>
            </a:r>
            <a:r>
              <a:rPr lang="en-US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 </a:t>
            </a:r>
            <a:r>
              <a:rPr lang="ru-RU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работает на ОС </a:t>
            </a:r>
            <a:r>
              <a:rPr lang="en-US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Windows </a:t>
            </a:r>
            <a:r>
              <a:rPr lang="ru-RU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(несовместимость библиотек </a:t>
            </a:r>
            <a:r>
              <a:rPr lang="en-US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chromadb</a:t>
            </a:r>
            <a:r>
              <a:rPr lang="ru-RU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)</a:t>
            </a:r>
            <a:endParaRPr lang="en-US" sz="2000" b="1" kern="1200" dirty="0">
              <a:solidFill>
                <a:srgbClr val="000000"/>
              </a:solidFill>
              <a:latin typeface="Montserrat SemiBold" panose="00000700000000000000" pitchFamily="2" charset="-52"/>
              <a:cs typeface="SB Sans Display" panose="020B0503040504020204" pitchFamily="34" charset="0"/>
            </a:endParaRPr>
          </a:p>
          <a:p>
            <a:pPr marL="342900" indent="-342900" rtl="0">
              <a:buFont typeface="Arial" panose="020B0604020202020204" pitchFamily="34" charset="0"/>
              <a:buChar char="•"/>
              <a:defRPr/>
            </a:pPr>
            <a:endParaRPr lang="en-US" sz="2000" b="1" kern="1200" dirty="0">
              <a:solidFill>
                <a:srgbClr val="000000"/>
              </a:solidFill>
              <a:latin typeface="Montserrat SemiBold" panose="00000700000000000000" pitchFamily="2" charset="-52"/>
              <a:cs typeface="SB Sans Display" panose="020B0503040504020204" pitchFamily="34" charset="0"/>
            </a:endParaRPr>
          </a:p>
          <a:p>
            <a:pPr marL="342900" indent="-342900" rtl="0">
              <a:buFont typeface="Arial" panose="020B0604020202020204" pitchFamily="34" charset="0"/>
              <a:buChar char="•"/>
              <a:defRPr/>
            </a:pPr>
            <a:r>
              <a:rPr lang="ru-RU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подбор параметров</a:t>
            </a:r>
            <a:r>
              <a:rPr lang="en-US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 chunking_strategy</a:t>
            </a:r>
            <a:r>
              <a:rPr lang="ru-RU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, </a:t>
            </a:r>
            <a:r>
              <a:rPr lang="en-US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chunk_size, chunk_overlap</a:t>
            </a:r>
            <a:endParaRPr lang="ru-RU" sz="2000" b="1" kern="1200" dirty="0">
              <a:solidFill>
                <a:srgbClr val="000000"/>
              </a:solidFill>
              <a:latin typeface="Montserrat SemiBold" panose="00000700000000000000" pitchFamily="2" charset="-52"/>
              <a:cs typeface="SB Sans Display" panose="020B0503040504020204" pitchFamily="34" charset="0"/>
            </a:endParaRPr>
          </a:p>
          <a:p>
            <a:pPr marL="342900" indent="-342900" rtl="0">
              <a:buFont typeface="Arial" panose="020B0604020202020204" pitchFamily="34" charset="0"/>
              <a:buChar char="•"/>
              <a:defRPr/>
            </a:pPr>
            <a:endParaRPr lang="ru-RU" sz="2000" b="1" kern="1200" dirty="0">
              <a:solidFill>
                <a:srgbClr val="000000"/>
              </a:solidFill>
              <a:latin typeface="Montserrat SemiBold" panose="00000700000000000000" pitchFamily="2" charset="-52"/>
              <a:cs typeface="SB Sans Display" panose="020B0503040504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уменьшение времени отклика работы</a:t>
            </a:r>
            <a:endParaRPr lang="en-US" sz="2000" b="1" kern="1200" dirty="0">
              <a:solidFill>
                <a:srgbClr val="000000"/>
              </a:solidFill>
              <a:latin typeface="Montserrat SemiBold" panose="00000700000000000000" pitchFamily="2" charset="-52"/>
              <a:cs typeface="SB Sans Display" panose="020B0503040504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0" b="1" kern="1200" dirty="0">
              <a:solidFill>
                <a:srgbClr val="000000"/>
              </a:solidFill>
              <a:latin typeface="Montserrat SemiBold" panose="00000700000000000000" pitchFamily="2" charset="-52"/>
              <a:cs typeface="SB Sans Display" panose="020B0503040504020204" pitchFamily="34" charset="0"/>
            </a:endParaRPr>
          </a:p>
          <a:p>
            <a:pPr marL="342900" indent="-342900" rtl="0">
              <a:buFont typeface="Arial" panose="020B0604020202020204" pitchFamily="34" charset="0"/>
              <a:buChar char="•"/>
              <a:defRPr/>
            </a:pPr>
            <a:r>
              <a:rPr lang="ru-RU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деградация (</a:t>
            </a:r>
            <a:r>
              <a:rPr lang="en-US" sz="2000" b="1" kern="120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memory </a:t>
            </a:r>
            <a:r>
              <a:rPr lang="en-US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leak?) </a:t>
            </a:r>
            <a:r>
              <a:rPr lang="ru-RU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на </a:t>
            </a:r>
            <a:r>
              <a:rPr lang="en-US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  <a:hlinkClick r:id="rId4"/>
              </a:rPr>
              <a:t>https://share.streamlit.io</a:t>
            </a:r>
            <a:r>
              <a:rPr lang="ru-RU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 после суток работы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  <a:cs typeface="SB Sans Display" panose="020B0503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370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23964-EC0A-A176-66EF-89A5729CD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164;g2cf6a24b2c0_0_2">
            <a:extLst>
              <a:ext uri="{FF2B5EF4-FFF2-40B4-BE49-F238E27FC236}">
                <a16:creationId xmlns:a16="http://schemas.microsoft.com/office/drawing/2014/main" id="{AE624DAB-6387-1488-4DA2-90EB6AE67F2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79" b="179"/>
          <a:stretch/>
        </p:blipFill>
        <p:spPr>
          <a:xfrm>
            <a:off x="1075" y="0"/>
            <a:ext cx="12189848" cy="78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166;g2cf6a24b2c0_0_2">
            <a:extLst>
              <a:ext uri="{FF2B5EF4-FFF2-40B4-BE49-F238E27FC236}">
                <a16:creationId xmlns:a16="http://schemas.microsoft.com/office/drawing/2014/main" id="{C6A55490-B8E5-995B-28D6-33B48F7307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009" b="1009"/>
          <a:stretch/>
        </p:blipFill>
        <p:spPr>
          <a:xfrm>
            <a:off x="9288250" y="272044"/>
            <a:ext cx="2520003" cy="2230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63;g2cf6a24b2c0_0_2">
            <a:extLst>
              <a:ext uri="{FF2B5EF4-FFF2-40B4-BE49-F238E27FC236}">
                <a16:creationId xmlns:a16="http://schemas.microsoft.com/office/drawing/2014/main" id="{0E7FD94D-F515-CC34-4843-86318E45366C}"/>
              </a:ext>
            </a:extLst>
          </p:cNvPr>
          <p:cNvSpPr txBox="1"/>
          <p:nvPr/>
        </p:nvSpPr>
        <p:spPr>
          <a:xfrm>
            <a:off x="461377" y="891207"/>
            <a:ext cx="11346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wrap="square" lIns="0" tIns="0" rIns="0" bIns="0" anchor="t" anchorCtr="0">
            <a:spAutoFit/>
          </a:bodyPr>
          <a:lstStyle/>
          <a:p>
            <a:pPr lvl="0" rtl="0">
              <a:buClr>
                <a:srgbClr val="000000"/>
              </a:buClr>
              <a:buSzPts val="3600"/>
            </a:pP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Мультимодальная </a:t>
            </a:r>
            <a:r>
              <a:rPr lang="en-US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RAG-</a:t>
            </a: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система</a:t>
            </a:r>
            <a:endParaRPr lang="en-US" sz="2800" dirty="0">
              <a:solidFill>
                <a:srgbClr val="082326"/>
              </a:solidFill>
              <a:latin typeface="Montserrat ExtraBold"/>
              <a:ea typeface="Montserrat ExtraBold"/>
              <a:cs typeface="Montserrat Extra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C98245-37E3-B1CF-1CF9-5F2C2A061D42}"/>
              </a:ext>
            </a:extLst>
          </p:cNvPr>
          <p:cNvSpPr txBox="1"/>
          <p:nvPr/>
        </p:nvSpPr>
        <p:spPr>
          <a:xfrm>
            <a:off x="461377" y="1700808"/>
            <a:ext cx="8092378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200" b="1" kern="1200" dirty="0">
                <a:solidFill>
                  <a:srgbClr val="00206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Возможности по расширению функциональности</a:t>
            </a:r>
            <a:endParaRPr kumimoji="0" lang="ru-RU" sz="2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  <a:cs typeface="SB Sans Display" panose="020B050304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08E3DB-E056-DAFC-5483-1E831D71D6B0}"/>
              </a:ext>
            </a:extLst>
          </p:cNvPr>
          <p:cNvSpPr txBox="1"/>
          <p:nvPr/>
        </p:nvSpPr>
        <p:spPr>
          <a:xfrm>
            <a:off x="11537313" y="6436768"/>
            <a:ext cx="5040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kern="1200" dirty="0">
                <a:cs typeface="SB Sans Display" panose="020B0503040504020204" pitchFamily="34" charset="0"/>
              </a:rPr>
              <a:t>13</a:t>
            </a:r>
            <a:endParaRPr lang="ru-RU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CE2363-3002-7912-84F4-E6FC0F0AE4AC}"/>
              </a:ext>
            </a:extLst>
          </p:cNvPr>
          <p:cNvSpPr txBox="1"/>
          <p:nvPr/>
        </p:nvSpPr>
        <p:spPr>
          <a:xfrm>
            <a:off x="479376" y="2708920"/>
            <a:ext cx="11346875" cy="33239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  <a:defRPr/>
            </a:pPr>
            <a:r>
              <a:rPr lang="ru-RU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портирование на </a:t>
            </a:r>
            <a:r>
              <a:rPr lang="en-US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GigaChat </a:t>
            </a:r>
            <a:r>
              <a:rPr lang="ru-RU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и </a:t>
            </a:r>
            <a:r>
              <a:rPr lang="en-US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GigaEmbedding</a:t>
            </a:r>
          </a:p>
          <a:p>
            <a:pPr marL="342900" indent="-342900" rtl="0">
              <a:buFont typeface="Arial" panose="020B0604020202020204" pitchFamily="34" charset="0"/>
              <a:buChar char="•"/>
              <a:defRPr/>
            </a:pPr>
            <a:endParaRPr lang="ru-RU" sz="2000" b="1" kern="1200" dirty="0">
              <a:solidFill>
                <a:srgbClr val="000000"/>
              </a:solidFill>
              <a:latin typeface="Montserrat SemiBold" panose="00000700000000000000" pitchFamily="2" charset="-52"/>
              <a:cs typeface="SB Sans Display" panose="020B0503040504020204" pitchFamily="34" charset="0"/>
            </a:endParaRPr>
          </a:p>
          <a:p>
            <a:pPr marL="342900" indent="-342900" rtl="0">
              <a:buFont typeface="Arial" panose="020B0604020202020204" pitchFamily="34" charset="0"/>
              <a:buChar char="•"/>
              <a:defRPr/>
            </a:pPr>
            <a:r>
              <a:rPr lang="ru-RU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реализация цитирования источника</a:t>
            </a:r>
            <a:endParaRPr lang="en-US" sz="2000" b="1" kern="1200" dirty="0">
              <a:solidFill>
                <a:srgbClr val="000000"/>
              </a:solidFill>
              <a:latin typeface="Montserrat SemiBold" panose="00000700000000000000" pitchFamily="2" charset="-52"/>
              <a:cs typeface="SB Sans Display" panose="020B0503040504020204" pitchFamily="34" charset="0"/>
            </a:endParaRPr>
          </a:p>
          <a:p>
            <a:pPr marL="342900" indent="-342900" rtl="0">
              <a:buFont typeface="Arial" panose="020B0604020202020204" pitchFamily="34" charset="0"/>
              <a:buChar char="•"/>
              <a:defRPr/>
            </a:pPr>
            <a:endParaRPr lang="en-US" sz="2000" b="1" kern="1200" dirty="0">
              <a:solidFill>
                <a:srgbClr val="000000"/>
              </a:solidFill>
              <a:latin typeface="Montserrat SemiBold" panose="00000700000000000000" pitchFamily="2" charset="-52"/>
              <a:cs typeface="SB Sans Display" panose="020B0503040504020204" pitchFamily="34" charset="0"/>
            </a:endParaRPr>
          </a:p>
          <a:p>
            <a:pPr marL="342900" indent="-342900" rtl="0">
              <a:buFont typeface="Arial" panose="020B0604020202020204" pitchFamily="34" charset="0"/>
              <a:buChar char="•"/>
              <a:defRPr/>
            </a:pPr>
            <a:r>
              <a:rPr lang="ru-RU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реализация </a:t>
            </a:r>
            <a:r>
              <a:rPr lang="en-US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reranking </a:t>
            </a:r>
            <a:r>
              <a:rPr lang="ru-RU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выдачи</a:t>
            </a:r>
            <a:r>
              <a:rPr lang="en-US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 </a:t>
            </a:r>
            <a:r>
              <a:rPr lang="ru-RU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документов от </a:t>
            </a:r>
            <a:r>
              <a:rPr lang="en-US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retriever</a:t>
            </a:r>
          </a:p>
          <a:p>
            <a:pPr marL="342900" indent="-342900" rtl="0">
              <a:buFont typeface="Arial" panose="020B0604020202020204" pitchFamily="34" charset="0"/>
              <a:buChar char="•"/>
              <a:defRPr/>
            </a:pPr>
            <a:endParaRPr lang="en-US" sz="2000" b="1" kern="1200" dirty="0">
              <a:solidFill>
                <a:srgbClr val="000000"/>
              </a:solidFill>
              <a:latin typeface="Montserrat SemiBold" panose="00000700000000000000" pitchFamily="2" charset="-52"/>
              <a:cs typeface="SB Sans Display" panose="020B0503040504020204" pitchFamily="34" charset="0"/>
            </a:endParaRPr>
          </a:p>
          <a:p>
            <a:pPr marL="342900" indent="-342900" rtl="0">
              <a:buFont typeface="Arial" panose="020B0604020202020204" pitchFamily="34" charset="0"/>
              <a:buChar char="•"/>
              <a:defRPr/>
            </a:pPr>
            <a:r>
              <a:rPr lang="ru-RU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предобработка файлов других форматов</a:t>
            </a:r>
          </a:p>
          <a:p>
            <a:pPr marL="342900" indent="-342900" rtl="0">
              <a:buFont typeface="Arial" panose="020B0604020202020204" pitchFamily="34" charset="0"/>
              <a:buChar char="•"/>
              <a:defRPr/>
            </a:pPr>
            <a:endParaRPr lang="ru-RU" sz="2000" b="1" kern="1200" dirty="0">
              <a:solidFill>
                <a:srgbClr val="000000"/>
              </a:solidFill>
              <a:latin typeface="Montserrat SemiBold" panose="00000700000000000000" pitchFamily="2" charset="-52"/>
              <a:cs typeface="SB Sans Display" panose="020B0503040504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batch</a:t>
            </a:r>
            <a:r>
              <a:rPr lang="ru-RU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 предобработка группы файлов по определённой доменной области</a:t>
            </a:r>
            <a:endParaRPr lang="en-US" sz="2000" b="1" kern="1200" dirty="0">
              <a:solidFill>
                <a:srgbClr val="000000"/>
              </a:solidFill>
              <a:latin typeface="Montserrat SemiBold" panose="00000700000000000000" pitchFamily="2" charset="-52"/>
              <a:cs typeface="SB Sans Display" panose="020B0503040504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0" b="1" kern="1200" dirty="0">
              <a:solidFill>
                <a:srgbClr val="000000"/>
              </a:solidFill>
              <a:latin typeface="Montserrat SemiBold" panose="00000700000000000000" pitchFamily="2" charset="-52"/>
              <a:cs typeface="SB Sans Display" panose="020B0503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  <a:cs typeface="SB Sans Display" panose="020B0503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2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9E51F-BC14-A80B-93A4-A7BDC64F0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164;g2cf6a24b2c0_0_2">
            <a:extLst>
              <a:ext uri="{FF2B5EF4-FFF2-40B4-BE49-F238E27FC236}">
                <a16:creationId xmlns:a16="http://schemas.microsoft.com/office/drawing/2014/main" id="{70C3BDD3-C7AE-9897-9E61-6D57489CFBE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79" b="179"/>
          <a:stretch/>
        </p:blipFill>
        <p:spPr>
          <a:xfrm>
            <a:off x="1075" y="0"/>
            <a:ext cx="12189848" cy="78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166;g2cf6a24b2c0_0_2">
            <a:extLst>
              <a:ext uri="{FF2B5EF4-FFF2-40B4-BE49-F238E27FC236}">
                <a16:creationId xmlns:a16="http://schemas.microsoft.com/office/drawing/2014/main" id="{02AE1407-1812-7C2A-F71E-1209C92E12A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009" b="1009"/>
          <a:stretch/>
        </p:blipFill>
        <p:spPr>
          <a:xfrm>
            <a:off x="9288250" y="272044"/>
            <a:ext cx="2520003" cy="2230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63;g2cf6a24b2c0_0_2">
            <a:extLst>
              <a:ext uri="{FF2B5EF4-FFF2-40B4-BE49-F238E27FC236}">
                <a16:creationId xmlns:a16="http://schemas.microsoft.com/office/drawing/2014/main" id="{DE5FD6B4-3149-8AD7-3D81-CA7F711E58DB}"/>
              </a:ext>
            </a:extLst>
          </p:cNvPr>
          <p:cNvSpPr txBox="1"/>
          <p:nvPr/>
        </p:nvSpPr>
        <p:spPr>
          <a:xfrm>
            <a:off x="461377" y="891207"/>
            <a:ext cx="11346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wrap="square" lIns="0" tIns="0" rIns="0" bIns="0" anchor="t" anchorCtr="0">
            <a:spAutoFit/>
          </a:bodyPr>
          <a:lstStyle/>
          <a:p>
            <a:pPr lvl="0" rtl="0">
              <a:buClr>
                <a:srgbClr val="000000"/>
              </a:buClr>
              <a:buSzPts val="3600"/>
            </a:pP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Выводы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6CAE30-747A-A5DB-773D-4F48891993F1}"/>
              </a:ext>
            </a:extLst>
          </p:cNvPr>
          <p:cNvSpPr txBox="1"/>
          <p:nvPr/>
        </p:nvSpPr>
        <p:spPr>
          <a:xfrm>
            <a:off x="461376" y="1700808"/>
            <a:ext cx="11346876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200" b="1" kern="1200" dirty="0">
                <a:solidFill>
                  <a:srgbClr val="00206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Создан прототип мультимодальной </a:t>
            </a:r>
            <a:r>
              <a:rPr lang="en-US" sz="2200" b="1" kern="1200" dirty="0">
                <a:solidFill>
                  <a:srgbClr val="00206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RAG </a:t>
            </a:r>
            <a:r>
              <a:rPr lang="ru-RU" sz="2200" b="1" kern="1200" dirty="0">
                <a:solidFill>
                  <a:srgbClr val="00206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системы – цель достигнута</a:t>
            </a:r>
            <a:endParaRPr kumimoji="0" lang="ru-RU" sz="2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  <a:cs typeface="SB Sans Display" panose="020B050304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06F0A0-4537-0F7B-1347-BC687B002183}"/>
              </a:ext>
            </a:extLst>
          </p:cNvPr>
          <p:cNvSpPr txBox="1"/>
          <p:nvPr/>
        </p:nvSpPr>
        <p:spPr>
          <a:xfrm>
            <a:off x="11537313" y="6436768"/>
            <a:ext cx="5040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400" kern="1200" dirty="0">
                <a:cs typeface="SB Sans Display" panose="020B0503040504020204" pitchFamily="34" charset="0"/>
              </a:rPr>
              <a:t>14</a:t>
            </a:r>
            <a:endParaRPr lang="ru-RU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9A9034-141F-B008-8EF0-00D4EB1812B8}"/>
              </a:ext>
            </a:extLst>
          </p:cNvPr>
          <p:cNvSpPr txBox="1"/>
          <p:nvPr/>
        </p:nvSpPr>
        <p:spPr>
          <a:xfrm>
            <a:off x="713404" y="3429000"/>
            <a:ext cx="11075937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репозиторий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Git</a:t>
            </a:r>
            <a:r>
              <a:rPr lang="en-US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Lab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 проекта</a:t>
            </a:r>
            <a:r>
              <a:rPr lang="en-US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	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  <a:hlinkClick r:id="rId4"/>
              </a:rPr>
              <a:t>https://git.standard-data.ru/course_llm_ds/llm-for-ds-homeworks/-/tree/pse_progect_llm_rag_final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  <a:cs typeface="SB Sans Display" panose="020B0503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  <a:cs typeface="SB Sans Display" panose="020B050304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1539C8-8174-11F6-1C89-010D5BD56B51}"/>
              </a:ext>
            </a:extLst>
          </p:cNvPr>
          <p:cNvSpPr txBox="1"/>
          <p:nvPr/>
        </p:nvSpPr>
        <p:spPr>
          <a:xfrm>
            <a:off x="732316" y="4664750"/>
            <a:ext cx="11075936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b="1" kern="1200" dirty="0">
                <a:solidFill>
                  <a:srgbClr val="000000"/>
                </a:solidFill>
                <a:latin typeface="Montserrat SemiBold" panose="00000700000000000000" pitchFamily="2" charset="-52"/>
                <a:cs typeface="SB Sans Display" panose="020B0503040504020204" pitchFamily="34" charset="0"/>
              </a:rPr>
              <a:t>рабочий прототип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 в интернете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</a:rPr>
              <a:t>	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SemiBold" panose="00000700000000000000" pitchFamily="2" charset="-52"/>
                <a:ea typeface="+mn-ea"/>
                <a:cs typeface="SB Sans Display" panose="020B0503040504020204" pitchFamily="34" charset="0"/>
                <a:hlinkClick r:id="rId5"/>
              </a:rPr>
              <a:t>https://pse-project-rag-pure.streamlit.app/</a:t>
            </a:r>
            <a:endParaRPr kumimoji="0" lang="ru-RU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SemiBold" panose="00000700000000000000" pitchFamily="2" charset="-52"/>
              <a:ea typeface="+mn-ea"/>
              <a:cs typeface="SB Sans Display" panose="020B0503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745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g1f7fd1cc82b_0_0"/>
          <p:cNvPicPr preferRelativeResize="0"/>
          <p:nvPr/>
        </p:nvPicPr>
        <p:blipFill rotWithShape="1">
          <a:blip r:embed="rId3">
            <a:alphaModFix/>
          </a:blip>
          <a:srcRect l="9" r="9"/>
          <a:stretch/>
        </p:blipFill>
        <p:spPr>
          <a:xfrm>
            <a:off x="2166" y="0"/>
            <a:ext cx="1218983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1f7fd1cc82b_0_0"/>
          <p:cNvSpPr txBox="1"/>
          <p:nvPr/>
        </p:nvSpPr>
        <p:spPr>
          <a:xfrm>
            <a:off x="551384" y="1279348"/>
            <a:ext cx="106410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rtl="0">
              <a:buClr>
                <a:srgbClr val="000000"/>
              </a:buClr>
              <a:buSzPts val="3600"/>
            </a:pPr>
            <a:r>
              <a:rPr lang="ru-RU" sz="3000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</a:rPr>
              <a:t>Список используемых источников/программных средств</a:t>
            </a:r>
            <a:r>
              <a:rPr lang="ru-RU" sz="3000" b="0" i="0" u="none" strike="noStrike" cap="none" dirty="0">
                <a:solidFill>
                  <a:srgbClr val="08232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:</a:t>
            </a:r>
            <a:endParaRPr sz="3000" b="0" i="0" u="none" strike="noStrike" cap="none" dirty="0">
              <a:solidFill>
                <a:srgbClr val="08232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5" name="Google Shape;105;g1f7fd1cc82b_0_0"/>
          <p:cNvSpPr txBox="1"/>
          <p:nvPr/>
        </p:nvSpPr>
        <p:spPr>
          <a:xfrm>
            <a:off x="1173007" y="2379741"/>
            <a:ext cx="8115243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rtl="0">
              <a:lnSpc>
                <a:spcPct val="150000"/>
              </a:lnSpc>
              <a:buClr>
                <a:srgbClr val="000000"/>
              </a:buClr>
              <a:buSzPct val="50000"/>
            </a:pPr>
            <a:r>
              <a:rPr lang="en-US" sz="2400" dirty="0">
                <a:solidFill>
                  <a:srgbClr val="082326"/>
                </a:solidFill>
                <a:latin typeface="Montserrat Medium"/>
                <a:ea typeface="Montserrat Medium"/>
                <a:cs typeface="Montserrat Medium"/>
                <a:hlinkClick r:id="rId4"/>
              </a:rPr>
              <a:t>Advanced RAG Techniques</a:t>
            </a:r>
          </a:p>
          <a:p>
            <a:pPr marL="457200" rtl="0">
              <a:lnSpc>
                <a:spcPct val="150000"/>
              </a:lnSpc>
              <a:buClr>
                <a:srgbClr val="000000"/>
              </a:buClr>
              <a:buSzPct val="50000"/>
            </a:pPr>
            <a:r>
              <a:rPr lang="en-US" sz="2400" dirty="0">
                <a:solidFill>
                  <a:srgbClr val="082326"/>
                </a:solidFill>
                <a:latin typeface="Montserrat Medium"/>
                <a:ea typeface="Montserrat Medium"/>
                <a:cs typeface="Montserrat Medium"/>
                <a:hlinkClick r:id="rId4"/>
              </a:rPr>
              <a:t>Unstructured</a:t>
            </a:r>
            <a:endParaRPr lang="ru-RU" altLang="en-US" sz="2400" dirty="0">
              <a:solidFill>
                <a:srgbClr val="082326"/>
              </a:solidFill>
              <a:latin typeface="Montserrat Medium"/>
              <a:ea typeface="Montserrat Medium"/>
              <a:cs typeface="Montserrat Medium"/>
            </a:endParaRPr>
          </a:p>
          <a:p>
            <a:pPr marL="457200" rtl="0">
              <a:lnSpc>
                <a:spcPct val="150000"/>
              </a:lnSpc>
              <a:buClr>
                <a:srgbClr val="000000"/>
              </a:buClr>
              <a:buSzPct val="50000"/>
            </a:pPr>
            <a:r>
              <a:rPr lang="en-US" sz="2400" dirty="0">
                <a:solidFill>
                  <a:srgbClr val="082326"/>
                </a:solidFill>
                <a:latin typeface="Montserrat Medium"/>
                <a:ea typeface="Montserrat Medium"/>
                <a:cs typeface="Montserrat Medium"/>
                <a:hlinkClick r:id="rId5"/>
              </a:rPr>
              <a:t>Streamlit</a:t>
            </a:r>
            <a:r>
              <a:rPr lang="en-US" sz="2400" dirty="0">
                <a:solidFill>
                  <a:srgbClr val="082326"/>
                </a:solidFill>
                <a:latin typeface="Montserrat Medium"/>
                <a:ea typeface="Montserrat Medium"/>
                <a:cs typeface="Montserrat Medium"/>
              </a:rPr>
              <a:t> </a:t>
            </a:r>
          </a:p>
          <a:p>
            <a:pPr marL="457200" rtl="0">
              <a:lnSpc>
                <a:spcPct val="150000"/>
              </a:lnSpc>
              <a:buClr>
                <a:srgbClr val="000000"/>
              </a:buClr>
              <a:buSzPct val="50000"/>
            </a:pPr>
            <a:r>
              <a:rPr lang="fr-FR" sz="2400" dirty="0">
                <a:solidFill>
                  <a:srgbClr val="082326"/>
                </a:solidFill>
                <a:latin typeface="Montserrat Medium"/>
                <a:ea typeface="Montserrat Medium"/>
                <a:cs typeface="Montserrat Medium"/>
                <a:hlinkClick r:id="rId6"/>
              </a:rPr>
              <a:t>Tesseract OCR</a:t>
            </a:r>
            <a:endParaRPr lang="fr-FR" sz="2400" dirty="0">
              <a:solidFill>
                <a:srgbClr val="082326"/>
              </a:solidFill>
              <a:latin typeface="Montserrat Medium"/>
              <a:ea typeface="Montserrat Medium"/>
              <a:cs typeface="Montserrat Medium"/>
            </a:endParaRPr>
          </a:p>
          <a:p>
            <a:pPr marL="457200" rtl="0">
              <a:lnSpc>
                <a:spcPct val="150000"/>
              </a:lnSpc>
              <a:buClr>
                <a:srgbClr val="000000"/>
              </a:buClr>
              <a:buSzPct val="50000"/>
            </a:pPr>
            <a:r>
              <a:rPr lang="en-US" sz="2400" dirty="0">
                <a:solidFill>
                  <a:srgbClr val="082326"/>
                </a:solidFill>
                <a:latin typeface="Montserrat Medium"/>
                <a:ea typeface="Montserrat Medium"/>
                <a:cs typeface="Montserrat Medium"/>
                <a:hlinkClick r:id="rId7"/>
              </a:rPr>
              <a:t>Langchain RAG White Paper</a:t>
            </a:r>
            <a:endParaRPr lang="en-US" sz="2400" dirty="0">
              <a:solidFill>
                <a:srgbClr val="082326"/>
              </a:solidFill>
              <a:latin typeface="Montserrat Medium"/>
              <a:ea typeface="Montserrat Medium"/>
              <a:cs typeface="Montserrat Medium"/>
            </a:endParaRPr>
          </a:p>
          <a:p>
            <a:pPr marL="800100" indent="-342900" rtl="0">
              <a:lnSpc>
                <a:spcPct val="150000"/>
              </a:lnSpc>
              <a:buClr>
                <a:srgbClr val="000000"/>
              </a:buClr>
              <a:buSzPct val="50000"/>
              <a:buFont typeface="Arial" panose="020B0604020202020204" pitchFamily="34" charset="0"/>
              <a:buChar char="•"/>
            </a:pPr>
            <a:endParaRPr lang="ru-RU" sz="2400" dirty="0">
              <a:solidFill>
                <a:srgbClr val="082326"/>
              </a:solidFill>
              <a:latin typeface="Montserrat Medium"/>
              <a:ea typeface="Montserrat Medium"/>
              <a:cs typeface="Montserrat Medium"/>
            </a:endParaRPr>
          </a:p>
        </p:txBody>
      </p:sp>
      <p:pic>
        <p:nvPicPr>
          <p:cNvPr id="108" name="Google Shape;108;g1f7fd1cc82b_0_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3432" y="2671487"/>
            <a:ext cx="379150" cy="387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1f7fd1cc82b_0_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3432" y="3195711"/>
            <a:ext cx="379150" cy="387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66;g2cf6a24b2c0_0_2">
            <a:extLst>
              <a:ext uri="{FF2B5EF4-FFF2-40B4-BE49-F238E27FC236}">
                <a16:creationId xmlns:a16="http://schemas.microsoft.com/office/drawing/2014/main" id="{08E9CE62-DF87-96EF-909F-D84E70012424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t="1009" b="1009"/>
          <a:stretch/>
        </p:blipFill>
        <p:spPr>
          <a:xfrm>
            <a:off x="9288250" y="272044"/>
            <a:ext cx="2520003" cy="22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09;g1f7fd1cc82b_0_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3432" y="3719935"/>
            <a:ext cx="379150" cy="387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9;g1f7fd1cc82b_0_0">
            <a:extLst>
              <a:ext uri="{FF2B5EF4-FFF2-40B4-BE49-F238E27FC236}">
                <a16:creationId xmlns:a16="http://schemas.microsoft.com/office/drawing/2014/main" id="{3A35EC8E-0D72-D545-1801-239FD7AE22C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3432" y="4244159"/>
            <a:ext cx="379150" cy="387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9;g1f7fd1cc82b_0_0">
            <a:extLst>
              <a:ext uri="{FF2B5EF4-FFF2-40B4-BE49-F238E27FC236}">
                <a16:creationId xmlns:a16="http://schemas.microsoft.com/office/drawing/2014/main" id="{87470058-5309-230E-25E7-725F03B9FFFA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3432" y="4768383"/>
            <a:ext cx="379150" cy="38721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5C3445-62CC-032E-1A3C-AC7B7CC25FC7}"/>
              </a:ext>
            </a:extLst>
          </p:cNvPr>
          <p:cNvSpPr txBox="1"/>
          <p:nvPr/>
        </p:nvSpPr>
        <p:spPr>
          <a:xfrm>
            <a:off x="11537313" y="6436768"/>
            <a:ext cx="5040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400" kern="1200" dirty="0">
                <a:cs typeface="SB Sans Display" panose="020B0503040504020204" pitchFamily="34" charset="0"/>
              </a:rPr>
              <a:t>15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506101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997</TotalTime>
  <Words>1003</Words>
  <Application>Microsoft Office PowerPoint</Application>
  <PresentationFormat>Широкоэкранный</PresentationFormat>
  <Paragraphs>181</Paragraphs>
  <Slides>15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5" baseType="lpstr">
      <vt:lpstr>-apple-system</vt:lpstr>
      <vt:lpstr>Arial</vt:lpstr>
      <vt:lpstr>Calibri</vt:lpstr>
      <vt:lpstr>Montserrat ExtraBold</vt:lpstr>
      <vt:lpstr>Montserrat Medium</vt:lpstr>
      <vt:lpstr>Montserrat SemiBold</vt:lpstr>
      <vt:lpstr>SB Sans Display</vt:lpstr>
      <vt:lpstr>SB Sans Display Light</vt:lpstr>
      <vt:lpstr>SBSansDisplay-Light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светлый маг</dc:title>
  <dc:creator>JVMoroz</dc:creator>
  <cp:lastModifiedBy>Дима Петров</cp:lastModifiedBy>
  <cp:revision>119</cp:revision>
  <dcterms:created xsi:type="dcterms:W3CDTF">2020-09-15T13:07:55Z</dcterms:created>
  <dcterms:modified xsi:type="dcterms:W3CDTF">2025-09-19T17:06:24Z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b0218d2f0c274ec5bf9c6f8526dec993</vt:lpwstr>
  </property>
</Properties>
</file>